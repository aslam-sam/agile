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[AKIF — 20 seconds]</a:t>
            </a:r>
          </a:p>
          <a:p/>
          <a:p>
            <a:r>
              <a:t>Good morning. We are presenting AgileAgent, a multi-agent AI software engineering platform for autonomous software development, under the guidance of V. Swarna. I am Akif; with me are Aslam Uddin and Puneeth Reddy.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[AKIF — 35 seconds]</a:t>
            </a:r>
          </a:p>
          <a:p/>
          <a:p>
            <a:r>
              <a:t>Our domain is AI-assisted software engineering. Building software is not one task — it is a chain of dependent decisions from requirements through to documentation. Language models are genuinely good at writing code, but they work at the level of a function. Everything around that code — deciding what to build, how to structure it, whether it is correct — still falls to the developer. Multi-agent systems, where several specialised agents each own a role, are the emerging response. AgileAgent applies that idea across the entire lifecycle.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[AKIF — 40 seconds]</a:t>
            </a:r>
          </a:p>
          <a:p/>
          <a:p>
            <a:r>
              <a:t>The problem breaks into four specific defects. First, no shared context — each prompt starts blind, so the developer manually carries decisions forward. Second, no traceability; nothing connects a generated file to the requirement that justified writing it. Third, single-model dependency — one rate limit or outage during a long generation, and the whole thing is lost. Fourth, the output is unverified: no review, no structural validation, no tests. The net effect is that AI speeds up typing but the integration work simply moves onto the developer.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[AKIF — 45 seconds]</a:t>
            </a:r>
          </a:p>
          <a:p/>
          <a:p>
            <a:r>
              <a:t>Looking at what exists today. Copilot and Cursor complete code inline, but they produce no requirements, no design, no documentation. Asking ChatGPT or Claude for a whole application in one conversation truncates — you get files importing modules the model never wrote. The research frameworks, MetaGPT, ChatDev and AutoGen, do use multiple agents, but they run the same fixed pipeline no matter what you ask for, depend on one model backend, and let the model generate build configuration. Low-code platforms just assemble templates. The common gap across all four is the same: no shared state, no resilience, no verification. Aslam will now present what we propose.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[ASLAM — 70 seconds]</a:t>
            </a:r>
          </a:p>
          <a:p/>
          <a:p>
            <a:r>
              <a:t>This is the core of our proposal. AgileAgent is a platform where eleven specialised AI engineering agents collaborate under a deterministic workflow engine to turn a plain-language idea into a complete, reviewed, downloadable project.</a:t>
            </a:r>
          </a:p>
          <a:p/>
          <a:p>
            <a:r>
              <a:t>Each mechanism on the right removes a specific limitation on the left. No shared context is solved by one typed shared project memory that every agent reads and writes — so the backend engineer sees the schema the database engineer designed. The fixed pipeline is replaced by capability-driven assignment: a portfolio site gets no database engineer, and the interface shows the reason it was skipped. Single-model dependency is solved by a provider-agnostic layer with automatic failover. Build files are emitted deterministically by hand-verified code, never by a model, because a subtly wrong build file breaks a project in ways a reader cannot diagnose. And the output goes through a review and improvement pass before packaging.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[ASLAM — 40 seconds]</a:t>
            </a:r>
          </a:p>
          <a:p/>
          <a:p>
            <a:r>
              <a:t>Five objectives, each measurable. One, an eleven-role multi-agent architecture over a single typed project state. Two, a workflow engine that selects agents by capability and gives a reason for every skip. Three, a provider-agnostic orchestration layer across six model providers. Four, structural correctness — build tooling emitted deterministically, and code generated in two phases: first a file manifest, then contents in ordered batches. Five, a packaged and documented project with an auditable report.</a:t>
            </a:r>
          </a:p>
          <a:p/>
          <a:p>
            <a:r>
              <a:t>We have deliberately scoped out cloud deployment, CI/CD generation, GitHub push automation, vector memory and multi-tenant isolation — the architecture accommodates them later, but they are not version 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[ASLAM — 55 seconds]</a:t>
            </a:r>
          </a:p>
          <a:p/>
          <a:p>
            <a:r>
              <a:t>Five papers frame our work. Codex, in 2021, showed LLMs can write correct code — but it evaluates isolated functions, not projects. ReAct improved reliability by interleaving reasoning with actions, but it is a single agent. MetaGPT and ChatDev, both 2023, are the closest work: they use specialised roles and do outperform single agents. But MetaGPT runs the same waterfall for every input, and ChatDev produces toy-scale output with build configuration written by the model itself. AutoGen is flexible but leaves the developer to design the loop, with no SDLC artifacts.</a:t>
            </a:r>
          </a:p>
          <a:p/>
          <a:p>
            <a:r>
              <a:t>So the research gap is fourfold: fixed pipelines, single-provider dependency, LLM-written build configuration, and no review or traceability. Those four gaps are exactly what AgileAgent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[ASLAM — 55 seconds]</a:t>
            </a:r>
          </a:p>
          <a:p/>
          <a:p>
            <a:r>
              <a:t>The working procedure runs in ten steps. The user describes an idea. The Business Analyst agent produces an SRS and answers five capability questions — does anything persist? do different people see different data? is there a user interface? Those answers decide which agents run. Technology options are scored and explained, and the user can override any layer. The workflow engine then derives execution order by topological sort over each agent's declared dependencies.</a:t>
            </a:r>
          </a:p>
          <a:p/>
          <a:p>
            <a:r>
              <a:t>Two steps are highlighted because they are deliberately not AI. Step six emits build tooling from hand-verified code. Step eight generates code in two phases — a file manifest first, then contents in ordered batches that can see what already exists — because a single completion for a whole application reliably truncates. Review, improvement and packaging close the pipeline. Puneeth will take the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[PUNEETH — 70 seconds]</a:t>
            </a:r>
          </a:p>
          <a:p/>
          <a:p>
            <a:r>
              <a:t>The architecture has four bands. At the top, a React client that talks to the API over REST and receives live progress over Server-Sent Events — a client that reconnects replays from its last sequence number, so nothing is lost.</a:t>
            </a:r>
          </a:p>
          <a:p/>
          <a:p>
            <a:r>
              <a:t>The second band is a strictly layered API: routes handle HTTP only, services hold business logic and never import the web framework, repositories own all SQL, and PostgreSQL persists it. The dependency direction is one-way and enforced.</a:t>
            </a:r>
          </a:p>
          <a:p/>
          <a:p>
            <a:r>
              <a:t>The third band is where the capability lives — the agent registry with eleven agents, the workflow engine, nine technology adapters, and packaging. All four sit on the Shared Project Memory, which is the single typed state every agent reads and writes.</a:t>
            </a:r>
          </a:p>
          <a:p/>
          <a:p>
            <a:r>
              <a:t>The fourth band is the provider manager. Every model call passes through it: cache, route, retry, fail over, record. No agent ever addresses a provider directly — and that single constraint is what makes failover across these six providers automatic rather than something each agent has to handle.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[PUNEETH — 40 seconds]</a:t>
            </a:r>
          </a:p>
          <a:p/>
          <a:p>
            <a:r>
              <a:t>The backend is Python with FastAPI and async SQLAlchemy; the frontend is React with strict TypeScript; PostgreSQL in production, SQLite locally; everything containerised. Six model providers sit behind one provider-agnostic interface, and the platform can generate projects on nine different technology stacks.</a:t>
            </a:r>
          </a:p>
          <a:p/>
          <a:p>
            <a:r>
              <a:t>One point I want to make directly, because it is usually the first question. AgileAgent trains no model. It is an orchestration system built on pre-trained language models, so there is no dataset, no preprocessing and no train/test split — accuracy, precision and recall do not apply. Our evaluation is system-level instead: artifact completeness, structural validity of generated code, build success rate, per-agent success rate, failover recovery rate, generation latency and token cost per project.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[PUNEETH — 40 seconds]</a:t>
            </a:r>
          </a:p>
          <a:p/>
          <a:p>
            <a:r>
              <a:t>What we expect to deliver: a complete starter project — requirements, architecture, a database schema with executable DDL, an API specification, frontend and backend source, tests, documentation and container definitions. Runs that survive a provider failing halfway through. Every skipped agent reported with its reason, so the system's decisions are legible rather than mysterious. And a downloadable archive with an auditable engineering report.</a:t>
            </a:r>
          </a:p>
          <a:p/>
          <a:p>
            <a:r>
              <a:t>Applications range from startup prototyping and academic project bootstrapping to developer onboarding and teaching the lifecycle itself. The significance is the shift: AI stops being a snippet-level assistant and becomes an accountable engineering team — one that records why each decision was taken.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[PUNEETH — 35 seconds]</a:t>
            </a:r>
          </a:p>
          <a:p/>
          <a:p>
            <a:r>
              <a:t>Our work plan runs across seven phases from August 2026 to April 2027: survey and design first, then the core platform, then the agents and workflow engine, then LLM orchestration and the technology adapters, the web client, packaging and evaluation, and finally documentation and the demonstration.</a:t>
            </a:r>
          </a:p>
          <a:p/>
          <a:p>
            <a:r>
              <a:t>Responsibilities are split three ways — I have the web client, streaming, packaging and testing; Aslam has the agents, workflow engine and shared memory; Akif has the LLM orchestration layer and backend core. Our references are listed below. Thank you —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p>
        </p:txBody>
      </p:sp>
      <p:sp>
        <p:nvSpPr>
          <p:cNvPr id="4" name="TextBox 3"/>
          <p:cNvSpPr txBox="1"/>
          <p:nvPr/>
        </p:nvSpPr>
        <p:spPr>
          <a:xfrm>
            <a:off x="566928" y="868680"/>
            <a:ext cx="11057839" cy="1463040"/>
          </a:xfrm>
          <a:prstGeom prst="rect">
            <a:avLst/>
          </a:prstGeom>
          <a:noFill/>
        </p:spPr>
        <p:txBody>
          <a:bodyPr wrap="square" lIns="0" rIns="0" tIns="0" bIns="0">
            <a:spAutoFit/>
          </a:bodyPr>
          <a:lstStyle/>
          <a:p>
            <a:pPr algn="ctr">
              <a:spcAft>
                <a:spcPts val="0"/>
              </a:spcAft>
            </a:pPr>
            <a:r>
              <a:rPr sz="5800" b="1">
                <a:solidFill>
                  <a:srgbClr val="38BDF8"/>
                </a:solidFill>
                <a:latin typeface="Segoe UI"/>
              </a:rPr>
              <a:t>AgileAgent</a:t>
            </a:r>
          </a:p>
          <a:p>
            <a:pPr algn="ctr">
              <a:spcAft>
                <a:spcPts val="200"/>
              </a:spcAft>
            </a:pPr>
            <a:r>
              <a:rPr sz="2300" b="0">
                <a:solidFill>
                  <a:srgbClr val="E2E8F0"/>
                </a:solidFill>
                <a:latin typeface="Segoe UI"/>
              </a:rPr>
              <a:t>Multi-Agent AI Software Engineering Platform</a:t>
            </a:r>
          </a:p>
          <a:p>
            <a:pPr algn="ctr">
              <a:spcAft>
                <a:spcPts val="0"/>
              </a:spcAft>
            </a:pPr>
            <a:r>
              <a:rPr sz="2300" b="0">
                <a:solidFill>
                  <a:srgbClr val="E2E8F0"/>
                </a:solidFill>
                <a:latin typeface="Segoe UI"/>
              </a:rPr>
              <a:t>for Autonomous Software Development</a:t>
            </a:r>
          </a:p>
        </p:txBody>
      </p:sp>
      <p:sp>
        <p:nvSpPr>
          <p:cNvPr id="5" name="Rectangle 4"/>
          <p:cNvSpPr/>
          <p:nvPr/>
        </p:nvSpPr>
        <p:spPr>
          <a:xfrm>
            <a:off x="4727448" y="2670048"/>
            <a:ext cx="2743200" cy="27432"/>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p>
        </p:txBody>
      </p:sp>
      <p:sp>
        <p:nvSpPr>
          <p:cNvPr id="6" name="Rounded Rectangle 5"/>
          <p:cNvSpPr/>
          <p:nvPr/>
        </p:nvSpPr>
        <p:spPr>
          <a:xfrm>
            <a:off x="3017520" y="2944368"/>
            <a:ext cx="6153912" cy="1481328"/>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600"/>
              </a:spcAft>
            </a:pPr>
            <a:r>
              <a:rPr sz="1100" b="1">
                <a:solidFill>
                  <a:srgbClr val="38BDF8"/>
                </a:solidFill>
                <a:latin typeface="Segoe UI"/>
              </a:rPr>
              <a:t>TEAM MEMBERS</a:t>
            </a:r>
          </a:p>
          <a:p>
            <a:pPr algn="ctr">
              <a:spcAft>
                <a:spcPts val="200"/>
              </a:spcAft>
            </a:pPr>
            <a:r>
              <a:rPr sz="1500">
                <a:solidFill>
                  <a:srgbClr val="E2E8F0"/>
                </a:solidFill>
                <a:latin typeface="Segoe UI"/>
              </a:rPr>
              <a:t>Mohammed Abdul Akif Ahmed    —    245123733173</a:t>
            </a:r>
          </a:p>
          <a:p>
            <a:pPr algn="ctr">
              <a:spcAft>
                <a:spcPts val="200"/>
              </a:spcAft>
            </a:pPr>
            <a:r>
              <a:rPr sz="1500">
                <a:solidFill>
                  <a:srgbClr val="E2E8F0"/>
                </a:solidFill>
                <a:latin typeface="Segoe UI"/>
              </a:rPr>
              <a:t>Mohammed Aslam Uddin    —    245123733182</a:t>
            </a:r>
          </a:p>
          <a:p>
            <a:pPr algn="ctr">
              <a:spcAft>
                <a:spcPts val="200"/>
              </a:spcAft>
            </a:pPr>
            <a:r>
              <a:rPr sz="1500">
                <a:solidFill>
                  <a:srgbClr val="E2E8F0"/>
                </a:solidFill>
                <a:latin typeface="Segoe UI"/>
              </a:rPr>
              <a:t>Puneeth Reddy    —    245123733186</a:t>
            </a:r>
          </a:p>
        </p:txBody>
      </p:sp>
      <p:sp>
        <p:nvSpPr>
          <p:cNvPr id="7" name="TextBox 6"/>
          <p:cNvSpPr txBox="1"/>
          <p:nvPr/>
        </p:nvSpPr>
        <p:spPr>
          <a:xfrm>
            <a:off x="566928" y="4626864"/>
            <a:ext cx="11057839" cy="1463040"/>
          </a:xfrm>
          <a:prstGeom prst="rect">
            <a:avLst/>
          </a:prstGeom>
          <a:noFill/>
        </p:spPr>
        <p:txBody>
          <a:bodyPr wrap="square" lIns="0" rIns="0" tIns="0" bIns="0">
            <a:spAutoFit/>
          </a:bodyPr>
          <a:lstStyle/>
          <a:p>
            <a:pPr algn="ctr">
              <a:spcAft>
                <a:spcPts val="1200"/>
              </a:spcAft>
            </a:pPr>
            <a:r>
              <a:rPr sz="1700" b="1">
                <a:solidFill>
                  <a:srgbClr val="E2E8F0"/>
                </a:solidFill>
                <a:latin typeface="Segoe UI"/>
              </a:rPr>
              <a:t>Project Guide:  V. Swarna</a:t>
            </a:r>
          </a:p>
          <a:p>
            <a:pPr algn="ctr">
              <a:spcAft>
                <a:spcPts val="200"/>
              </a:spcAft>
            </a:pPr>
            <a:r>
              <a:rPr sz="1500" b="0">
                <a:solidFill>
                  <a:srgbClr val="94A3B8"/>
                </a:solidFill>
                <a:latin typeface="Segoe UI"/>
              </a:rPr>
              <a:t>Department of Computer Science &amp; Engineering</a:t>
            </a:r>
          </a:p>
          <a:p>
            <a:pPr algn="ctr">
              <a:spcAft>
                <a:spcPts val="200"/>
              </a:spcAft>
            </a:pPr>
            <a:r>
              <a:rPr sz="1500" b="0">
                <a:solidFill>
                  <a:srgbClr val="94A3B8"/>
                </a:solidFill>
                <a:latin typeface="Segoe UI"/>
              </a:rPr>
              <a:t>M V S R Engineering College (A)</a:t>
            </a:r>
          </a:p>
          <a:p>
            <a:pPr algn="ctr">
              <a:spcAft>
                <a:spcPts val="0"/>
              </a:spcAft>
            </a:pPr>
            <a:r>
              <a:rPr sz="1500" b="0">
                <a:solidFill>
                  <a:srgbClr val="94A3B8"/>
                </a:solidFill>
                <a:latin typeface="Segoe UI"/>
              </a:rPr>
              <a:t>Academic Year 2026 – 27</a:t>
            </a:r>
          </a:p>
        </p:txBody>
      </p:sp>
      <p:sp>
        <p:nvSpPr>
          <p:cNvPr id="8" name="Rectangle 7"/>
          <p:cNvSpPr/>
          <p:nvPr/>
        </p:nvSpPr>
        <p:spPr>
          <a:xfrm>
            <a:off x="0" y="6729984"/>
            <a:ext cx="12191695" cy="128016"/>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20624"/>
            <a:ext cx="82296" cy="47548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p>
        </p:txBody>
      </p:sp>
      <p:sp>
        <p:nvSpPr>
          <p:cNvPr id="4" name="TextBox 3"/>
          <p:cNvSpPr txBox="1"/>
          <p:nvPr/>
        </p:nvSpPr>
        <p:spPr>
          <a:xfrm>
            <a:off x="786384" y="384048"/>
            <a:ext cx="9960559" cy="548640"/>
          </a:xfrm>
          <a:prstGeom prst="rect">
            <a:avLst/>
          </a:prstGeom>
          <a:noFill/>
        </p:spPr>
        <p:txBody>
          <a:bodyPr wrap="square" lIns="0" rIns="0" tIns="0" bIns="0">
            <a:spAutoFit/>
          </a:bodyPr>
          <a:lstStyle/>
          <a:p>
            <a:pPr algn="l">
              <a:spcAft>
                <a:spcPts val="0"/>
              </a:spcAft>
            </a:pPr>
            <a:r>
              <a:rPr sz="2900" b="1">
                <a:solidFill>
                  <a:srgbClr val="E2E8F0"/>
                </a:solidFill>
                <a:latin typeface="Segoe UI"/>
              </a:rPr>
              <a:t>Introduction</a:t>
            </a:r>
          </a:p>
          <a:p>
            <a:pPr algn="l">
              <a:spcAft>
                <a:spcPts val="0"/>
              </a:spcAft>
            </a:pPr>
            <a:r>
              <a:rPr sz="1300" b="0">
                <a:solidFill>
                  <a:srgbClr val="94A3B8"/>
                </a:solidFill>
                <a:latin typeface="Segoe UI"/>
              </a:rPr>
              <a:t>Domain — AI-assisted software engineering and autonomous multi-agent systems</a:t>
            </a:r>
          </a:p>
        </p:txBody>
      </p:sp>
      <p:sp>
        <p:nvSpPr>
          <p:cNvPr id="5" name="TextBox 4"/>
          <p:cNvSpPr txBox="1"/>
          <p:nvPr/>
        </p:nvSpPr>
        <p:spPr>
          <a:xfrm>
            <a:off x="566928" y="6345936"/>
            <a:ext cx="11057839" cy="274320"/>
          </a:xfrm>
          <a:prstGeom prst="rect">
            <a:avLst/>
          </a:prstGeom>
          <a:noFill/>
        </p:spPr>
        <p:txBody>
          <a:bodyPr wrap="square" lIns="0" rIns="0" tIns="0" bIns="0">
            <a:spAutoFit/>
          </a:bodyPr>
          <a:lstStyle/>
          <a:p>
            <a:pPr algn="l">
              <a:spcAft>
                <a:spcPts val="0"/>
              </a:spcAft>
            </a:pPr>
            <a:r>
              <a:rPr sz="1000" b="0">
                <a:solidFill>
                  <a:srgbClr val="94A3B8"/>
                </a:solidFill>
                <a:latin typeface="Segoe UI"/>
              </a:rPr>
              <a:t>AgileAgent  ·  Abstract Seminar  ·  Dept. of CSE, MVSREC (A)</a:t>
            </a:r>
          </a:p>
        </p:txBody>
      </p:sp>
      <p:sp>
        <p:nvSpPr>
          <p:cNvPr id="6" name="TextBox 5"/>
          <p:cNvSpPr txBox="1"/>
          <p:nvPr/>
        </p:nvSpPr>
        <p:spPr>
          <a:xfrm>
            <a:off x="10710367" y="6345936"/>
            <a:ext cx="914400" cy="274320"/>
          </a:xfrm>
          <a:prstGeom prst="rect">
            <a:avLst/>
          </a:prstGeom>
          <a:noFill/>
        </p:spPr>
        <p:txBody>
          <a:bodyPr wrap="square" lIns="0" rIns="0" tIns="0" bIns="0">
            <a:spAutoFit/>
          </a:bodyPr>
          <a:lstStyle/>
          <a:p>
            <a:pPr algn="r">
              <a:spcAft>
                <a:spcPts val="0"/>
              </a:spcAft>
            </a:pPr>
            <a:r>
              <a:rPr sz="1000" b="0">
                <a:solidFill>
                  <a:srgbClr val="94A3B8"/>
                </a:solidFill>
                <a:latin typeface="Segoe UI"/>
              </a:rPr>
              <a:t>2 / 12</a:t>
            </a:r>
          </a:p>
        </p:txBody>
      </p:sp>
      <p:sp>
        <p:nvSpPr>
          <p:cNvPr id="7" name="TextBox 6"/>
          <p:cNvSpPr txBox="1"/>
          <p:nvPr/>
        </p:nvSpPr>
        <p:spPr>
          <a:xfrm>
            <a:off x="566928" y="1298448"/>
            <a:ext cx="11057839" cy="4160520"/>
          </a:xfrm>
          <a:prstGeom prst="rect">
            <a:avLst/>
          </a:prstGeom>
          <a:noFill/>
        </p:spPr>
        <p:txBody>
          <a:bodyPr wrap="square" lIns="0" rIns="0" tIns="0" bIns="0">
            <a:spAutoFit/>
          </a:bodyPr>
          <a:lstStyle/>
          <a:p>
            <a:pPr>
              <a:spcAft>
                <a:spcPts val="1500"/>
              </a:spcAft>
            </a:pPr>
            <a:r>
              <a:rPr sz="1900">
                <a:solidFill>
                  <a:srgbClr val="38BDF8"/>
                </a:solidFill>
                <a:latin typeface="Segoe UI"/>
              </a:rPr>
              <a:t>▸  </a:t>
            </a:r>
            <a:r>
              <a:rPr sz="1900" b="1">
                <a:solidFill>
                  <a:srgbClr val="E2E8F0"/>
                </a:solidFill>
                <a:latin typeface="Segoe UI"/>
              </a:rPr>
              <a:t>Software development is a chain of decisions —  </a:t>
            </a:r>
            <a:r>
              <a:rPr sz="1900">
                <a:solidFill>
                  <a:srgbClr val="94A3B8"/>
                </a:solidFill>
                <a:latin typeface="Segoe UI"/>
              </a:rPr>
              <a:t>requirements, design, code, testing, documentation.</a:t>
            </a:r>
          </a:p>
          <a:p>
            <a:pPr>
              <a:spcAft>
                <a:spcPts val="1500"/>
              </a:spcAft>
            </a:pPr>
            <a:r>
              <a:rPr sz="1900">
                <a:solidFill>
                  <a:srgbClr val="38BDF8"/>
                </a:solidFill>
                <a:latin typeface="Segoe UI"/>
              </a:rPr>
              <a:t>▸  </a:t>
            </a:r>
            <a:r>
              <a:rPr sz="1900" b="1">
                <a:solidFill>
                  <a:srgbClr val="E2E8F0"/>
                </a:solidFill>
                <a:latin typeface="Segoe UI"/>
              </a:rPr>
              <a:t>Language models now write correct code,  </a:t>
            </a:r>
            <a:r>
              <a:rPr sz="1900">
                <a:solidFill>
                  <a:srgbClr val="94A3B8"/>
                </a:solidFill>
                <a:latin typeface="Segoe UI"/>
              </a:rPr>
              <a:t>but assist at the scale of a function or a single file.</a:t>
            </a:r>
          </a:p>
          <a:p>
            <a:pPr>
              <a:spcAft>
                <a:spcPts val="1500"/>
              </a:spcAft>
            </a:pPr>
            <a:r>
              <a:rPr sz="1900">
                <a:solidFill>
                  <a:srgbClr val="38BDF8"/>
                </a:solidFill>
                <a:latin typeface="Segoe UI"/>
              </a:rPr>
              <a:t>▸  </a:t>
            </a:r>
            <a:r>
              <a:rPr sz="1900" b="1">
                <a:solidFill>
                  <a:srgbClr val="E2E8F0"/>
                </a:solidFill>
                <a:latin typeface="Segoe UI"/>
              </a:rPr>
              <a:t>The developer remains the integrator,  </a:t>
            </a:r>
            <a:r>
              <a:rPr sz="1900">
                <a:solidFill>
                  <a:srgbClr val="94A3B8"/>
                </a:solidFill>
                <a:latin typeface="Segoe UI"/>
              </a:rPr>
              <a:t>manually carrying context between every prompt.</a:t>
            </a:r>
          </a:p>
          <a:p>
            <a:pPr>
              <a:spcAft>
                <a:spcPts val="1500"/>
              </a:spcAft>
            </a:pPr>
            <a:r>
              <a:rPr sz="1900">
                <a:solidFill>
                  <a:srgbClr val="38BDF8"/>
                </a:solidFill>
                <a:latin typeface="Segoe UI"/>
              </a:rPr>
              <a:t>▸  </a:t>
            </a:r>
            <a:r>
              <a:rPr sz="1900" b="1">
                <a:solidFill>
                  <a:srgbClr val="E2E8F0"/>
                </a:solidFill>
                <a:latin typeface="Segoe UI"/>
              </a:rPr>
              <a:t>Multi-agent systems are the emerging answer —  </a:t>
            </a:r>
            <a:r>
              <a:rPr sz="1900">
                <a:solidFill>
                  <a:srgbClr val="94A3B8"/>
                </a:solidFill>
                <a:latin typeface="Segoe UI"/>
              </a:rPr>
              <a:t>several specialised agents, each with a defined role.</a:t>
            </a:r>
          </a:p>
          <a:p>
            <a:pPr>
              <a:spcAft>
                <a:spcPts val="1500"/>
              </a:spcAft>
            </a:pPr>
            <a:r>
              <a:rPr sz="1900">
                <a:solidFill>
                  <a:srgbClr val="38BDF8"/>
                </a:solidFill>
                <a:latin typeface="Segoe UI"/>
              </a:rPr>
              <a:t>▸  </a:t>
            </a:r>
            <a:r>
              <a:rPr sz="1900" b="1">
                <a:solidFill>
                  <a:srgbClr val="E2E8F0"/>
                </a:solidFill>
                <a:latin typeface="Segoe UI"/>
              </a:rPr>
              <a:t>AgileAgent applies that idea  </a:t>
            </a:r>
            <a:r>
              <a:rPr sz="1900">
                <a:solidFill>
                  <a:srgbClr val="94A3B8"/>
                </a:solidFill>
                <a:latin typeface="Segoe UI"/>
              </a:rPr>
              <a:t>to the complete software development lifecycle.</a:t>
            </a:r>
          </a:p>
        </p:txBody>
      </p:sp>
      <p:sp>
        <p:nvSpPr>
          <p:cNvPr id="8" name="Rounded Rectangle 7"/>
          <p:cNvSpPr/>
          <p:nvPr/>
        </p:nvSpPr>
        <p:spPr>
          <a:xfrm>
            <a:off x="566928" y="5504688"/>
            <a:ext cx="11057839" cy="658368"/>
          </a:xfrm>
          <a:prstGeom prst="round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600" b="1">
                <a:solidFill>
                  <a:srgbClr val="E2E8F0"/>
                </a:solidFill>
                <a:latin typeface="Segoe UI"/>
              </a:rPr>
              <a:t>AI today accelerates typing. It does not yet perform engineering.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20624"/>
            <a:ext cx="82296" cy="47548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p>
        </p:txBody>
      </p:sp>
      <p:sp>
        <p:nvSpPr>
          <p:cNvPr id="4" name="TextBox 3"/>
          <p:cNvSpPr txBox="1"/>
          <p:nvPr/>
        </p:nvSpPr>
        <p:spPr>
          <a:xfrm>
            <a:off x="786384" y="384048"/>
            <a:ext cx="9960559" cy="548640"/>
          </a:xfrm>
          <a:prstGeom prst="rect">
            <a:avLst/>
          </a:prstGeom>
          <a:noFill/>
        </p:spPr>
        <p:txBody>
          <a:bodyPr wrap="square" lIns="0" rIns="0" tIns="0" bIns="0">
            <a:spAutoFit/>
          </a:bodyPr>
          <a:lstStyle/>
          <a:p>
            <a:pPr algn="l">
              <a:spcAft>
                <a:spcPts val="0"/>
              </a:spcAft>
            </a:pPr>
            <a:r>
              <a:rPr sz="2900" b="1">
                <a:solidFill>
                  <a:srgbClr val="E2E8F0"/>
                </a:solidFill>
                <a:latin typeface="Segoe UI"/>
              </a:rPr>
              <a:t>Problem Statement</a:t>
            </a:r>
          </a:p>
          <a:p>
            <a:pPr algn="l">
              <a:spcAft>
                <a:spcPts val="0"/>
              </a:spcAft>
            </a:pPr>
            <a:r>
              <a:rPr sz="1300" b="0">
                <a:solidFill>
                  <a:srgbClr val="94A3B8"/>
                </a:solidFill>
                <a:latin typeface="Segoe UI"/>
              </a:rPr>
              <a:t>Four defects that prevent current AI tools from delivering complete software</a:t>
            </a:r>
          </a:p>
        </p:txBody>
      </p:sp>
      <p:sp>
        <p:nvSpPr>
          <p:cNvPr id="5" name="TextBox 4"/>
          <p:cNvSpPr txBox="1"/>
          <p:nvPr/>
        </p:nvSpPr>
        <p:spPr>
          <a:xfrm>
            <a:off x="566928" y="6345936"/>
            <a:ext cx="11057839" cy="274320"/>
          </a:xfrm>
          <a:prstGeom prst="rect">
            <a:avLst/>
          </a:prstGeom>
          <a:noFill/>
        </p:spPr>
        <p:txBody>
          <a:bodyPr wrap="square" lIns="0" rIns="0" tIns="0" bIns="0">
            <a:spAutoFit/>
          </a:bodyPr>
          <a:lstStyle/>
          <a:p>
            <a:pPr algn="l">
              <a:spcAft>
                <a:spcPts val="0"/>
              </a:spcAft>
            </a:pPr>
            <a:r>
              <a:rPr sz="1000" b="0">
                <a:solidFill>
                  <a:srgbClr val="94A3B8"/>
                </a:solidFill>
                <a:latin typeface="Segoe UI"/>
              </a:rPr>
              <a:t>AgileAgent  ·  Abstract Seminar  ·  Dept. of CSE, MVSREC (A)</a:t>
            </a:r>
          </a:p>
        </p:txBody>
      </p:sp>
      <p:sp>
        <p:nvSpPr>
          <p:cNvPr id="6" name="TextBox 5"/>
          <p:cNvSpPr txBox="1"/>
          <p:nvPr/>
        </p:nvSpPr>
        <p:spPr>
          <a:xfrm>
            <a:off x="10710367" y="6345936"/>
            <a:ext cx="914400" cy="274320"/>
          </a:xfrm>
          <a:prstGeom prst="rect">
            <a:avLst/>
          </a:prstGeom>
          <a:noFill/>
        </p:spPr>
        <p:txBody>
          <a:bodyPr wrap="square" lIns="0" rIns="0" tIns="0" bIns="0">
            <a:spAutoFit/>
          </a:bodyPr>
          <a:lstStyle/>
          <a:p>
            <a:pPr algn="r">
              <a:spcAft>
                <a:spcPts val="0"/>
              </a:spcAft>
            </a:pPr>
            <a:r>
              <a:rPr sz="1000" b="0">
                <a:solidFill>
                  <a:srgbClr val="94A3B8"/>
                </a:solidFill>
                <a:latin typeface="Segoe UI"/>
              </a:rPr>
              <a:t>3 / 12</a:t>
            </a:r>
          </a:p>
        </p:txBody>
      </p:sp>
      <p:sp>
        <p:nvSpPr>
          <p:cNvPr id="7" name="TextBox 6"/>
          <p:cNvSpPr txBox="1"/>
          <p:nvPr/>
        </p:nvSpPr>
        <p:spPr>
          <a:xfrm>
            <a:off x="566928" y="1298448"/>
            <a:ext cx="11057839" cy="4160520"/>
          </a:xfrm>
          <a:prstGeom prst="rect">
            <a:avLst/>
          </a:prstGeom>
          <a:noFill/>
        </p:spPr>
        <p:txBody>
          <a:bodyPr wrap="square" lIns="0" rIns="0" tIns="0" bIns="0">
            <a:spAutoFit/>
          </a:bodyPr>
          <a:lstStyle/>
          <a:p>
            <a:pPr>
              <a:spcAft>
                <a:spcPts val="1500"/>
              </a:spcAft>
            </a:pPr>
            <a:r>
              <a:rPr sz="1900">
                <a:solidFill>
                  <a:srgbClr val="38BDF8"/>
                </a:solidFill>
                <a:latin typeface="Segoe UI"/>
              </a:rPr>
              <a:t>▸  </a:t>
            </a:r>
            <a:r>
              <a:rPr sz="1900" b="1">
                <a:solidFill>
                  <a:srgbClr val="E2E8F0"/>
                </a:solidFill>
                <a:latin typeface="Segoe UI"/>
              </a:rPr>
              <a:t>No shared context.  </a:t>
            </a:r>
            <a:r>
              <a:rPr sz="1900">
                <a:solidFill>
                  <a:srgbClr val="94A3B8"/>
                </a:solidFill>
                <a:latin typeface="Segoe UI"/>
              </a:rPr>
              <a:t>Every prompt starts blind; the developer carries decisions between them.</a:t>
            </a:r>
          </a:p>
          <a:p>
            <a:pPr>
              <a:spcAft>
                <a:spcPts val="1500"/>
              </a:spcAft>
            </a:pPr>
            <a:r>
              <a:rPr sz="1900">
                <a:solidFill>
                  <a:srgbClr val="38BDF8"/>
                </a:solidFill>
                <a:latin typeface="Segoe UI"/>
              </a:rPr>
              <a:t>▸  </a:t>
            </a:r>
            <a:r>
              <a:rPr sz="1900" b="1">
                <a:solidFill>
                  <a:srgbClr val="E2E8F0"/>
                </a:solidFill>
                <a:latin typeface="Segoe UI"/>
              </a:rPr>
              <a:t>No traceability.  </a:t>
            </a:r>
            <a:r>
              <a:rPr sz="1900">
                <a:solidFill>
                  <a:srgbClr val="94A3B8"/>
                </a:solidFill>
                <a:latin typeface="Segoe UI"/>
              </a:rPr>
              <a:t>Nothing links a generated file back to the requirement that justified it.</a:t>
            </a:r>
          </a:p>
          <a:p>
            <a:pPr>
              <a:spcAft>
                <a:spcPts val="1500"/>
              </a:spcAft>
            </a:pPr>
            <a:r>
              <a:rPr sz="1900">
                <a:solidFill>
                  <a:srgbClr val="38BDF8"/>
                </a:solidFill>
                <a:latin typeface="Segoe UI"/>
              </a:rPr>
              <a:t>▸  </a:t>
            </a:r>
            <a:r>
              <a:rPr sz="1900" b="1">
                <a:solidFill>
                  <a:srgbClr val="E2E8F0"/>
                </a:solidFill>
                <a:latin typeface="Segoe UI"/>
              </a:rPr>
              <a:t>Single-model dependency.  </a:t>
            </a:r>
            <a:r>
              <a:rPr sz="1900">
                <a:solidFill>
                  <a:srgbClr val="94A3B8"/>
                </a:solidFill>
                <a:latin typeface="Segoe UI"/>
              </a:rPr>
              <a:t>One quota, rate limit or outage aborts a long generation entirely.</a:t>
            </a:r>
          </a:p>
          <a:p>
            <a:pPr>
              <a:spcAft>
                <a:spcPts val="1500"/>
              </a:spcAft>
            </a:pPr>
            <a:r>
              <a:rPr sz="1900">
                <a:solidFill>
                  <a:srgbClr val="38BDF8"/>
                </a:solidFill>
                <a:latin typeface="Segoe UI"/>
              </a:rPr>
              <a:t>▸  </a:t>
            </a:r>
            <a:r>
              <a:rPr sz="1900" b="1">
                <a:solidFill>
                  <a:srgbClr val="E2E8F0"/>
                </a:solidFill>
                <a:latin typeface="Segoe UI"/>
              </a:rPr>
              <a:t>Unverified output.  </a:t>
            </a:r>
            <a:r>
              <a:rPr sz="1900">
                <a:solidFill>
                  <a:srgbClr val="94A3B8"/>
                </a:solidFill>
                <a:latin typeface="Segoe UI"/>
              </a:rPr>
              <a:t>Code arrives without review, structural validation or tests.</a:t>
            </a:r>
          </a:p>
        </p:txBody>
      </p:sp>
      <p:sp>
        <p:nvSpPr>
          <p:cNvPr id="8" name="Rounded Rectangle 7"/>
          <p:cNvSpPr/>
          <p:nvPr/>
        </p:nvSpPr>
        <p:spPr>
          <a:xfrm>
            <a:off x="566928" y="5504688"/>
            <a:ext cx="11057839" cy="658368"/>
          </a:xfrm>
          <a:prstGeom prst="round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600" b="1">
                <a:solidFill>
                  <a:srgbClr val="E2E8F0"/>
                </a:solidFill>
                <a:latin typeface="Segoe UI"/>
              </a:rPr>
              <a:t>Result: the integration burden is not removed — it is simply moved onto the developer.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20624"/>
            <a:ext cx="82296" cy="47548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p>
        </p:txBody>
      </p:sp>
      <p:sp>
        <p:nvSpPr>
          <p:cNvPr id="4" name="TextBox 3"/>
          <p:cNvSpPr txBox="1"/>
          <p:nvPr/>
        </p:nvSpPr>
        <p:spPr>
          <a:xfrm>
            <a:off x="786384" y="384048"/>
            <a:ext cx="9960559" cy="548640"/>
          </a:xfrm>
          <a:prstGeom prst="rect">
            <a:avLst/>
          </a:prstGeom>
          <a:noFill/>
        </p:spPr>
        <p:txBody>
          <a:bodyPr wrap="square" lIns="0" rIns="0" tIns="0" bIns="0">
            <a:spAutoFit/>
          </a:bodyPr>
          <a:lstStyle/>
          <a:p>
            <a:pPr algn="l">
              <a:spcAft>
                <a:spcPts val="0"/>
              </a:spcAft>
            </a:pPr>
            <a:r>
              <a:rPr sz="2900" b="1">
                <a:solidFill>
                  <a:srgbClr val="E2E8F0"/>
                </a:solidFill>
                <a:latin typeface="Segoe UI"/>
              </a:rPr>
              <a:t>Existing System</a:t>
            </a:r>
          </a:p>
          <a:p>
            <a:pPr algn="l">
              <a:spcAft>
                <a:spcPts val="0"/>
              </a:spcAft>
            </a:pPr>
            <a:r>
              <a:rPr sz="1300" b="0">
                <a:solidFill>
                  <a:srgbClr val="94A3B8"/>
                </a:solidFill>
                <a:latin typeface="Segoe UI"/>
              </a:rPr>
              <a:t>Current approaches and where each one stops</a:t>
            </a:r>
          </a:p>
        </p:txBody>
      </p:sp>
      <p:sp>
        <p:nvSpPr>
          <p:cNvPr id="5" name="TextBox 4"/>
          <p:cNvSpPr txBox="1"/>
          <p:nvPr/>
        </p:nvSpPr>
        <p:spPr>
          <a:xfrm>
            <a:off x="566928" y="6345936"/>
            <a:ext cx="11057839" cy="274320"/>
          </a:xfrm>
          <a:prstGeom prst="rect">
            <a:avLst/>
          </a:prstGeom>
          <a:noFill/>
        </p:spPr>
        <p:txBody>
          <a:bodyPr wrap="square" lIns="0" rIns="0" tIns="0" bIns="0">
            <a:spAutoFit/>
          </a:bodyPr>
          <a:lstStyle/>
          <a:p>
            <a:pPr algn="l">
              <a:spcAft>
                <a:spcPts val="0"/>
              </a:spcAft>
            </a:pPr>
            <a:r>
              <a:rPr sz="1000" b="0">
                <a:solidFill>
                  <a:srgbClr val="94A3B8"/>
                </a:solidFill>
                <a:latin typeface="Segoe UI"/>
              </a:rPr>
              <a:t>AgileAgent  ·  Abstract Seminar  ·  Dept. of CSE, MVSREC (A)</a:t>
            </a:r>
          </a:p>
        </p:txBody>
      </p:sp>
      <p:sp>
        <p:nvSpPr>
          <p:cNvPr id="6" name="TextBox 5"/>
          <p:cNvSpPr txBox="1"/>
          <p:nvPr/>
        </p:nvSpPr>
        <p:spPr>
          <a:xfrm>
            <a:off x="10710367" y="6345936"/>
            <a:ext cx="914400" cy="274320"/>
          </a:xfrm>
          <a:prstGeom prst="rect">
            <a:avLst/>
          </a:prstGeom>
          <a:noFill/>
        </p:spPr>
        <p:txBody>
          <a:bodyPr wrap="square" lIns="0" rIns="0" tIns="0" bIns="0">
            <a:spAutoFit/>
          </a:bodyPr>
          <a:lstStyle/>
          <a:p>
            <a:pPr algn="r">
              <a:spcAft>
                <a:spcPts val="0"/>
              </a:spcAft>
            </a:pPr>
            <a:r>
              <a:rPr sz="1000" b="0">
                <a:solidFill>
                  <a:srgbClr val="94A3B8"/>
                </a:solidFill>
                <a:latin typeface="Segoe UI"/>
              </a:rPr>
              <a:t>4 / 12</a:t>
            </a:r>
          </a:p>
        </p:txBody>
      </p:sp>
      <p:graphicFrame>
        <p:nvGraphicFramePr>
          <p:cNvPr id="7" name="Table 6"/>
          <p:cNvGraphicFramePr>
            <a:graphicFrameLocks noGrp="1"/>
          </p:cNvGraphicFramePr>
          <p:nvPr/>
        </p:nvGraphicFramePr>
        <p:xfrm>
          <a:off x="566928" y="1298448"/>
          <a:ext cx="11055096" cy="3566160"/>
        </p:xfrm>
        <a:graphic>
          <a:graphicData uri="http://schemas.openxmlformats.org/drawingml/2006/table">
            <a:tbl>
              <a:tblPr firstRow="1" bandRow="1">
                <a:tableStyleId>{5C22544A-7EE6-4342-B048-85BDC9FD1C3A}</a:tableStyleId>
              </a:tblPr>
              <a:tblGrid>
                <a:gridCol w="2423160"/>
                <a:gridCol w="4069080"/>
                <a:gridCol w="4562856"/>
              </a:tblGrid>
              <a:tr h="713232">
                <a:tc>
                  <a:txBody>
                    <a:bodyPr wrap="square"/>
                    <a:lstStyle/>
                    <a:p>
                      <a:r>
                        <a:rPr sz="1300" b="1">
                          <a:solidFill>
                            <a:srgbClr val="E2E8F0"/>
                          </a:solidFill>
                          <a:latin typeface="Segoe UI"/>
                        </a:rPr>
                        <a:t>Approach</a:t>
                      </a:r>
                    </a:p>
                  </a:txBody>
                  <a:tcPr marL="82296" marR="82296" marT="45720" marB="45720" anchor="ctr">
                    <a:solidFill>
                      <a:srgbClr val="0E7490"/>
                    </a:solidFill>
                  </a:tcPr>
                </a:tc>
                <a:tc>
                  <a:txBody>
                    <a:bodyPr wrap="square"/>
                    <a:lstStyle/>
                    <a:p>
                      <a:r>
                        <a:rPr sz="1300" b="1">
                          <a:solidFill>
                            <a:srgbClr val="E2E8F0"/>
                          </a:solidFill>
                          <a:latin typeface="Segoe UI"/>
                        </a:rPr>
                        <a:t>How it works</a:t>
                      </a:r>
                    </a:p>
                  </a:txBody>
                  <a:tcPr marL="82296" marR="82296" marT="45720" marB="45720" anchor="ctr">
                    <a:solidFill>
                      <a:srgbClr val="0E7490"/>
                    </a:solidFill>
                  </a:tcPr>
                </a:tc>
                <a:tc>
                  <a:txBody>
                    <a:bodyPr wrap="square"/>
                    <a:lstStyle/>
                    <a:p>
                      <a:r>
                        <a:rPr sz="1300" b="1">
                          <a:solidFill>
                            <a:srgbClr val="E2E8F0"/>
                          </a:solidFill>
                          <a:latin typeface="Segoe UI"/>
                        </a:rPr>
                        <a:t>Limitation</a:t>
                      </a:r>
                    </a:p>
                  </a:txBody>
                  <a:tcPr marL="82296" marR="82296" marT="45720" marB="45720" anchor="ctr">
                    <a:solidFill>
                      <a:srgbClr val="0E7490"/>
                    </a:solidFill>
                  </a:tcPr>
                </a:tc>
              </a:tr>
              <a:tr h="713232">
                <a:tc>
                  <a:txBody>
                    <a:bodyPr wrap="square"/>
                    <a:lstStyle/>
                    <a:p>
                      <a:r>
                        <a:rPr sz="1200" b="1">
                          <a:solidFill>
                            <a:srgbClr val="E2E8F0"/>
                          </a:solidFill>
                          <a:latin typeface="Segoe UI"/>
                        </a:rPr>
                        <a:t>GitHub Copilot,
Cursor</a:t>
                      </a:r>
                    </a:p>
                  </a:txBody>
                  <a:tcPr marL="82296" marR="82296" marT="45720" marB="45720" anchor="ctr">
                    <a:solidFill>
                      <a:srgbClr val="1E293B"/>
                    </a:solidFill>
                  </a:tcPr>
                </a:tc>
                <a:tc>
                  <a:txBody>
                    <a:bodyPr wrap="square"/>
                    <a:lstStyle/>
                    <a:p>
                      <a:r>
                        <a:rPr sz="1200" b="0">
                          <a:solidFill>
                            <a:srgbClr val="94A3B8"/>
                          </a:solidFill>
                          <a:latin typeface="Segoe UI"/>
                        </a:rPr>
                        <a:t>Inline completion inside the editor</a:t>
                      </a:r>
                    </a:p>
                  </a:txBody>
                  <a:tcPr marL="82296" marR="82296" marT="45720" marB="45720" anchor="ctr">
                    <a:solidFill>
                      <a:srgbClr val="1E293B"/>
                    </a:solidFill>
                  </a:tcPr>
                </a:tc>
                <a:tc>
                  <a:txBody>
                    <a:bodyPr wrap="square"/>
                    <a:lstStyle/>
                    <a:p>
                      <a:r>
                        <a:rPr sz="1200" b="0">
                          <a:solidFill>
                            <a:srgbClr val="F87171"/>
                          </a:solidFill>
                          <a:latin typeface="Segoe UI"/>
                        </a:rPr>
                        <a:t>Snippet scope; produces no requirements, design or documentation</a:t>
                      </a:r>
                    </a:p>
                  </a:txBody>
                  <a:tcPr marL="82296" marR="82296" marT="45720" marB="45720" anchor="ctr">
                    <a:solidFill>
                      <a:srgbClr val="1E293B"/>
                    </a:solidFill>
                  </a:tcPr>
                </a:tc>
              </a:tr>
              <a:tr h="713232">
                <a:tc>
                  <a:txBody>
                    <a:bodyPr wrap="square"/>
                    <a:lstStyle/>
                    <a:p>
                      <a:r>
                        <a:rPr sz="1200" b="1">
                          <a:solidFill>
                            <a:srgbClr val="E2E8F0"/>
                          </a:solidFill>
                          <a:latin typeface="Segoe UI"/>
                        </a:rPr>
                        <a:t>ChatGPT /
Claude chat</a:t>
                      </a:r>
                    </a:p>
                  </a:txBody>
                  <a:tcPr marL="82296" marR="82296" marT="45720" marB="45720" anchor="ctr">
                    <a:solidFill>
                      <a:srgbClr val="172133"/>
                    </a:solidFill>
                  </a:tcPr>
                </a:tc>
                <a:tc>
                  <a:txBody>
                    <a:bodyPr wrap="square"/>
                    <a:lstStyle/>
                    <a:p>
                      <a:r>
                        <a:rPr sz="1200" b="0">
                          <a:solidFill>
                            <a:srgbClr val="94A3B8"/>
                          </a:solidFill>
                          <a:latin typeface="Segoe UI"/>
                        </a:rPr>
                        <a:t>Whole application requested in one conversation</a:t>
                      </a:r>
                    </a:p>
                  </a:txBody>
                  <a:tcPr marL="82296" marR="82296" marT="45720" marB="45720" anchor="ctr">
                    <a:solidFill>
                      <a:srgbClr val="172133"/>
                    </a:solidFill>
                  </a:tcPr>
                </a:tc>
                <a:tc>
                  <a:txBody>
                    <a:bodyPr wrap="square"/>
                    <a:lstStyle/>
                    <a:p>
                      <a:r>
                        <a:rPr sz="1200" b="0">
                          <a:solidFill>
                            <a:srgbClr val="F87171"/>
                          </a:solidFill>
                          <a:latin typeface="Segoe UI"/>
                        </a:rPr>
                        <a:t>Long completions truncate; files import modules that were never written</a:t>
                      </a:r>
                    </a:p>
                  </a:txBody>
                  <a:tcPr marL="82296" marR="82296" marT="45720" marB="45720" anchor="ctr">
                    <a:solidFill>
                      <a:srgbClr val="172133"/>
                    </a:solidFill>
                  </a:tcPr>
                </a:tc>
              </a:tr>
              <a:tr h="713232">
                <a:tc>
                  <a:txBody>
                    <a:bodyPr wrap="square"/>
                    <a:lstStyle/>
                    <a:p>
                      <a:r>
                        <a:rPr sz="1200" b="1">
                          <a:solidFill>
                            <a:srgbClr val="E2E8F0"/>
                          </a:solidFill>
                          <a:latin typeface="Segoe UI"/>
                        </a:rPr>
                        <a:t>MetaGPT, ChatDev,
AutoGen</a:t>
                      </a:r>
                    </a:p>
                  </a:txBody>
                  <a:tcPr marL="82296" marR="82296" marT="45720" marB="45720" anchor="ctr">
                    <a:solidFill>
                      <a:srgbClr val="1E293B"/>
                    </a:solidFill>
                  </a:tcPr>
                </a:tc>
                <a:tc>
                  <a:txBody>
                    <a:bodyPr wrap="square"/>
                    <a:lstStyle/>
                    <a:p>
                      <a:r>
                        <a:rPr sz="1200" b="0">
                          <a:solidFill>
                            <a:srgbClr val="94A3B8"/>
                          </a:solidFill>
                          <a:latin typeface="Segoe UI"/>
                        </a:rPr>
                        <a:t>Multi-agent research frameworks with role play</a:t>
                      </a:r>
                    </a:p>
                  </a:txBody>
                  <a:tcPr marL="82296" marR="82296" marT="45720" marB="45720" anchor="ctr">
                    <a:solidFill>
                      <a:srgbClr val="1E293B"/>
                    </a:solidFill>
                  </a:tcPr>
                </a:tc>
                <a:tc>
                  <a:txBody>
                    <a:bodyPr wrap="square"/>
                    <a:lstStyle/>
                    <a:p>
                      <a:r>
                        <a:rPr sz="1200" b="0">
                          <a:solidFill>
                            <a:srgbClr val="F87171"/>
                          </a:solidFill>
                          <a:latin typeface="Segoe UI"/>
                        </a:rPr>
                        <a:t>Fixed pipeline for every input; single LLM backend; build files LLM-generated</a:t>
                      </a:r>
                    </a:p>
                  </a:txBody>
                  <a:tcPr marL="82296" marR="82296" marT="45720" marB="45720" anchor="ctr">
                    <a:solidFill>
                      <a:srgbClr val="1E293B"/>
                    </a:solidFill>
                  </a:tcPr>
                </a:tc>
              </a:tr>
              <a:tr h="713232">
                <a:tc>
                  <a:txBody>
                    <a:bodyPr wrap="square"/>
                    <a:lstStyle/>
                    <a:p>
                      <a:r>
                        <a:rPr sz="1200" b="1">
                          <a:solidFill>
                            <a:srgbClr val="E2E8F0"/>
                          </a:solidFill>
                          <a:latin typeface="Segoe UI"/>
                        </a:rPr>
                        <a:t>Low-code
platforms</a:t>
                      </a:r>
                    </a:p>
                  </a:txBody>
                  <a:tcPr marL="82296" marR="82296" marT="45720" marB="45720" anchor="ctr">
                    <a:solidFill>
                      <a:srgbClr val="172133"/>
                    </a:solidFill>
                  </a:tcPr>
                </a:tc>
                <a:tc>
                  <a:txBody>
                    <a:bodyPr wrap="square"/>
                    <a:lstStyle/>
                    <a:p>
                      <a:r>
                        <a:rPr sz="1200" b="0">
                          <a:solidFill>
                            <a:srgbClr val="94A3B8"/>
                          </a:solidFill>
                          <a:latin typeface="Segoe UI"/>
                        </a:rPr>
                        <a:t>Template assembly through a visual builder</a:t>
                      </a:r>
                    </a:p>
                  </a:txBody>
                  <a:tcPr marL="82296" marR="82296" marT="45720" marB="45720" anchor="ctr">
                    <a:solidFill>
                      <a:srgbClr val="172133"/>
                    </a:solidFill>
                  </a:tcPr>
                </a:tc>
                <a:tc>
                  <a:txBody>
                    <a:bodyPr wrap="square"/>
                    <a:lstStyle/>
                    <a:p>
                      <a:r>
                        <a:rPr sz="1200" b="0">
                          <a:solidFill>
                            <a:srgbClr val="F87171"/>
                          </a:solidFill>
                          <a:latin typeface="Segoe UI"/>
                        </a:rPr>
                        <a:t>Fixed templates; no real source ownership or architectural control</a:t>
                      </a:r>
                    </a:p>
                  </a:txBody>
                  <a:tcPr marL="82296" marR="82296" marT="45720" marB="45720" anchor="ctr">
                    <a:solidFill>
                      <a:srgbClr val="172133"/>
                    </a:solidFill>
                  </a:tcPr>
                </a:tc>
              </a:tr>
            </a:tbl>
          </a:graphicData>
        </a:graphic>
      </p:graphicFrame>
      <p:sp>
        <p:nvSpPr>
          <p:cNvPr id="8" name="Rounded Rectangle 7"/>
          <p:cNvSpPr/>
          <p:nvPr/>
        </p:nvSpPr>
        <p:spPr>
          <a:xfrm>
            <a:off x="566928" y="5138928"/>
            <a:ext cx="11057839" cy="1005840"/>
          </a:xfrm>
          <a:prstGeom prst="roundRect">
            <a:avLst/>
          </a:prstGeom>
          <a:solidFill>
            <a:srgbClr val="1E293B"/>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400"/>
              </a:spcAft>
            </a:pPr>
            <a:r>
              <a:rPr sz="1500" b="1">
                <a:solidFill>
                  <a:srgbClr val="38BDF8"/>
                </a:solidFill>
                <a:latin typeface="Segoe UI"/>
              </a:rPr>
              <a:t>COMMON GAP</a:t>
            </a:r>
          </a:p>
          <a:p>
            <a:pPr algn="l">
              <a:spcAft>
                <a:spcPts val="0"/>
              </a:spcAft>
            </a:pPr>
            <a:r>
              <a:rPr sz="1300" b="0">
                <a:solidFill>
                  <a:srgbClr val="E2E8F0"/>
                </a:solidFill>
                <a:latin typeface="Segoe UI"/>
              </a:rPr>
              <a:t>No shared project state, no resilience when a provider fails, and no verification of what was produced.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20624"/>
            <a:ext cx="82296" cy="47548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p>
        </p:txBody>
      </p:sp>
      <p:sp>
        <p:nvSpPr>
          <p:cNvPr id="4" name="TextBox 3"/>
          <p:cNvSpPr txBox="1"/>
          <p:nvPr/>
        </p:nvSpPr>
        <p:spPr>
          <a:xfrm>
            <a:off x="786384" y="384048"/>
            <a:ext cx="9960559" cy="548640"/>
          </a:xfrm>
          <a:prstGeom prst="rect">
            <a:avLst/>
          </a:prstGeom>
          <a:noFill/>
        </p:spPr>
        <p:txBody>
          <a:bodyPr wrap="square" lIns="0" rIns="0" tIns="0" bIns="0">
            <a:spAutoFit/>
          </a:bodyPr>
          <a:lstStyle/>
          <a:p>
            <a:pPr algn="l">
              <a:spcAft>
                <a:spcPts val="0"/>
              </a:spcAft>
            </a:pPr>
            <a:r>
              <a:rPr sz="2900" b="1">
                <a:solidFill>
                  <a:srgbClr val="E2E8F0"/>
                </a:solidFill>
                <a:latin typeface="Segoe UI"/>
              </a:rPr>
              <a:t>Proposed System</a:t>
            </a:r>
          </a:p>
          <a:p>
            <a:pPr algn="l">
              <a:spcAft>
                <a:spcPts val="0"/>
              </a:spcAft>
            </a:pPr>
            <a:r>
              <a:rPr sz="1300" b="0">
                <a:solidFill>
                  <a:srgbClr val="94A3B8"/>
                </a:solidFill>
                <a:latin typeface="Segoe UI"/>
              </a:rPr>
              <a:t>AgileAgent — eleven specialised AI engineering agents under a deterministic workflow engine</a:t>
            </a:r>
          </a:p>
        </p:txBody>
      </p:sp>
      <p:sp>
        <p:nvSpPr>
          <p:cNvPr id="5" name="TextBox 4"/>
          <p:cNvSpPr txBox="1"/>
          <p:nvPr/>
        </p:nvSpPr>
        <p:spPr>
          <a:xfrm>
            <a:off x="566928" y="6345936"/>
            <a:ext cx="11057839" cy="274320"/>
          </a:xfrm>
          <a:prstGeom prst="rect">
            <a:avLst/>
          </a:prstGeom>
          <a:noFill/>
        </p:spPr>
        <p:txBody>
          <a:bodyPr wrap="square" lIns="0" rIns="0" tIns="0" bIns="0">
            <a:spAutoFit/>
          </a:bodyPr>
          <a:lstStyle/>
          <a:p>
            <a:pPr algn="l">
              <a:spcAft>
                <a:spcPts val="0"/>
              </a:spcAft>
            </a:pPr>
            <a:r>
              <a:rPr sz="1000" b="0">
                <a:solidFill>
                  <a:srgbClr val="94A3B8"/>
                </a:solidFill>
                <a:latin typeface="Segoe UI"/>
              </a:rPr>
              <a:t>AgileAgent  ·  Abstract Seminar  ·  Dept. of CSE, MVSREC (A)</a:t>
            </a:r>
          </a:p>
        </p:txBody>
      </p:sp>
      <p:sp>
        <p:nvSpPr>
          <p:cNvPr id="6" name="TextBox 5"/>
          <p:cNvSpPr txBox="1"/>
          <p:nvPr/>
        </p:nvSpPr>
        <p:spPr>
          <a:xfrm>
            <a:off x="10710367" y="6345936"/>
            <a:ext cx="914400" cy="274320"/>
          </a:xfrm>
          <a:prstGeom prst="rect">
            <a:avLst/>
          </a:prstGeom>
          <a:noFill/>
        </p:spPr>
        <p:txBody>
          <a:bodyPr wrap="square" lIns="0" rIns="0" tIns="0" bIns="0">
            <a:spAutoFit/>
          </a:bodyPr>
          <a:lstStyle/>
          <a:p>
            <a:pPr algn="r">
              <a:spcAft>
                <a:spcPts val="0"/>
              </a:spcAft>
            </a:pPr>
            <a:r>
              <a:rPr sz="1000" b="0">
                <a:solidFill>
                  <a:srgbClr val="94A3B8"/>
                </a:solidFill>
                <a:latin typeface="Segoe UI"/>
              </a:rPr>
              <a:t>5 / 12</a:t>
            </a:r>
          </a:p>
        </p:txBody>
      </p:sp>
      <p:sp>
        <p:nvSpPr>
          <p:cNvPr id="7" name="Rounded Rectangle 6"/>
          <p:cNvSpPr/>
          <p:nvPr/>
        </p:nvSpPr>
        <p:spPr>
          <a:xfrm>
            <a:off x="566928" y="1298448"/>
            <a:ext cx="11057839" cy="566928"/>
          </a:xfrm>
          <a:prstGeom prst="round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400" b="1">
                <a:solidFill>
                  <a:srgbClr val="E2E8F0"/>
                </a:solidFill>
                <a:latin typeface="Segoe UI"/>
              </a:rPr>
              <a:t>A plain-language idea becomes a complete, reviewed, downloadable software project.</a:t>
            </a:r>
          </a:p>
        </p:txBody>
      </p:sp>
      <p:sp>
        <p:nvSpPr>
          <p:cNvPr id="8" name="TextBox 7"/>
          <p:cNvSpPr txBox="1"/>
          <p:nvPr/>
        </p:nvSpPr>
        <p:spPr>
          <a:xfrm>
            <a:off x="566928" y="2084831"/>
            <a:ext cx="4160520" cy="256032"/>
          </a:xfrm>
          <a:prstGeom prst="rect">
            <a:avLst/>
          </a:prstGeom>
          <a:noFill/>
        </p:spPr>
        <p:txBody>
          <a:bodyPr wrap="square" lIns="0" rIns="0" tIns="0" bIns="0">
            <a:spAutoFit/>
          </a:bodyPr>
          <a:lstStyle/>
          <a:p>
            <a:pPr algn="l">
              <a:spcAft>
                <a:spcPts val="0"/>
              </a:spcAft>
            </a:pPr>
            <a:r>
              <a:rPr sz="1100" b="1">
                <a:solidFill>
                  <a:srgbClr val="F87171"/>
                </a:solidFill>
                <a:latin typeface="Segoe UI"/>
              </a:rPr>
              <a:t>LIMITATION OF EXISTING WORK</a:t>
            </a:r>
          </a:p>
        </p:txBody>
      </p:sp>
      <p:sp>
        <p:nvSpPr>
          <p:cNvPr id="9" name="TextBox 8"/>
          <p:cNvSpPr txBox="1"/>
          <p:nvPr/>
        </p:nvSpPr>
        <p:spPr>
          <a:xfrm>
            <a:off x="5815584" y="2084831"/>
            <a:ext cx="5623560" cy="256032"/>
          </a:xfrm>
          <a:prstGeom prst="rect">
            <a:avLst/>
          </a:prstGeom>
          <a:noFill/>
        </p:spPr>
        <p:txBody>
          <a:bodyPr wrap="square" lIns="0" rIns="0" tIns="0" bIns="0">
            <a:spAutoFit/>
          </a:bodyPr>
          <a:lstStyle/>
          <a:p>
            <a:pPr algn="l">
              <a:spcAft>
                <a:spcPts val="0"/>
              </a:spcAft>
            </a:pPr>
            <a:r>
              <a:rPr sz="1100" b="1">
                <a:solidFill>
                  <a:srgbClr val="4ADE80"/>
                </a:solidFill>
                <a:latin typeface="Segoe UI"/>
              </a:rPr>
              <a:t>AGILEAGENT MECHANISM</a:t>
            </a:r>
          </a:p>
        </p:txBody>
      </p:sp>
      <p:sp>
        <p:nvSpPr>
          <p:cNvPr id="10" name="Rounded Rectangle 9"/>
          <p:cNvSpPr/>
          <p:nvPr/>
        </p:nvSpPr>
        <p:spPr>
          <a:xfrm>
            <a:off x="566928" y="2432304"/>
            <a:ext cx="4160520" cy="603504"/>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r>
              <a:rPr sz="1300">
                <a:solidFill>
                  <a:srgbClr val="94A3B8"/>
                </a:solidFill>
                <a:latin typeface="Segoe UI"/>
              </a:rPr>
              <a:t>No shared context between prompts</a:t>
            </a:r>
          </a:p>
        </p:txBody>
      </p:sp>
      <p:sp>
        <p:nvSpPr>
          <p:cNvPr id="11" name="Right Arrow 10"/>
          <p:cNvSpPr/>
          <p:nvPr/>
        </p:nvSpPr>
        <p:spPr>
          <a:xfrm>
            <a:off x="5020056" y="2651760"/>
            <a:ext cx="502920" cy="219456"/>
          </a:xfrm>
          <a:prstGeom prst="right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815584" y="2432304"/>
            <a:ext cx="5623560" cy="603504"/>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r>
              <a:rPr sz="1300" b="1">
                <a:solidFill>
                  <a:srgbClr val="E2E8F0"/>
                </a:solidFill>
                <a:latin typeface="Segoe UI"/>
              </a:rPr>
              <a:t>One typed Shared Project Memory threaded through every agent</a:t>
            </a:r>
          </a:p>
        </p:txBody>
      </p:sp>
      <p:sp>
        <p:nvSpPr>
          <p:cNvPr id="13" name="Rounded Rectangle 12"/>
          <p:cNvSpPr/>
          <p:nvPr/>
        </p:nvSpPr>
        <p:spPr>
          <a:xfrm>
            <a:off x="566928" y="3136392"/>
            <a:ext cx="4160520" cy="603504"/>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r>
              <a:rPr sz="1300">
                <a:solidFill>
                  <a:srgbClr val="94A3B8"/>
                </a:solidFill>
                <a:latin typeface="Segoe UI"/>
              </a:rPr>
              <a:t>Fixed pipeline regardless of the project</a:t>
            </a:r>
          </a:p>
        </p:txBody>
      </p:sp>
      <p:sp>
        <p:nvSpPr>
          <p:cNvPr id="14" name="Right Arrow 13"/>
          <p:cNvSpPr/>
          <p:nvPr/>
        </p:nvSpPr>
        <p:spPr>
          <a:xfrm>
            <a:off x="5020056" y="3355848"/>
            <a:ext cx="502920" cy="219456"/>
          </a:xfrm>
          <a:prstGeom prst="right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815584" y="3136392"/>
            <a:ext cx="5623560" cy="603504"/>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r>
              <a:rPr sz="1300" b="1">
                <a:solidFill>
                  <a:srgbClr val="E2E8F0"/>
                </a:solidFill>
                <a:latin typeface="Segoe UI"/>
              </a:rPr>
              <a:t>Capability-driven workflow — every skip shown with its reason</a:t>
            </a:r>
          </a:p>
        </p:txBody>
      </p:sp>
      <p:sp>
        <p:nvSpPr>
          <p:cNvPr id="16" name="Rounded Rectangle 15"/>
          <p:cNvSpPr/>
          <p:nvPr/>
        </p:nvSpPr>
        <p:spPr>
          <a:xfrm>
            <a:off x="566928" y="3840480"/>
            <a:ext cx="4160520" cy="603504"/>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r>
              <a:rPr sz="1300">
                <a:solidFill>
                  <a:srgbClr val="94A3B8"/>
                </a:solidFill>
                <a:latin typeface="Segoe UI"/>
              </a:rPr>
              <a:t>Single-model dependency</a:t>
            </a:r>
          </a:p>
        </p:txBody>
      </p:sp>
      <p:sp>
        <p:nvSpPr>
          <p:cNvPr id="17" name="Right Arrow 16"/>
          <p:cNvSpPr/>
          <p:nvPr/>
        </p:nvSpPr>
        <p:spPr>
          <a:xfrm>
            <a:off x="5020056" y="4059936"/>
            <a:ext cx="502920" cy="219456"/>
          </a:xfrm>
          <a:prstGeom prst="right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815584" y="3840480"/>
            <a:ext cx="5623560" cy="603504"/>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r>
              <a:rPr sz="1300" b="1">
                <a:solidFill>
                  <a:srgbClr val="E2E8F0"/>
                </a:solidFill>
                <a:latin typeface="Segoe UI"/>
              </a:rPr>
              <a:t>Provider-agnostic layer: routing, retry, failover, caching</a:t>
            </a:r>
          </a:p>
        </p:txBody>
      </p:sp>
      <p:sp>
        <p:nvSpPr>
          <p:cNvPr id="19" name="Rounded Rectangle 18"/>
          <p:cNvSpPr/>
          <p:nvPr/>
        </p:nvSpPr>
        <p:spPr>
          <a:xfrm>
            <a:off x="566928" y="4544568"/>
            <a:ext cx="4160520" cy="603504"/>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r>
              <a:rPr sz="1300">
                <a:solidFill>
                  <a:srgbClr val="94A3B8"/>
                </a:solidFill>
                <a:latin typeface="Segoe UI"/>
              </a:rPr>
              <a:t>Build files written by a language model</a:t>
            </a:r>
          </a:p>
        </p:txBody>
      </p:sp>
      <p:sp>
        <p:nvSpPr>
          <p:cNvPr id="20" name="Right Arrow 19"/>
          <p:cNvSpPr/>
          <p:nvPr/>
        </p:nvSpPr>
        <p:spPr>
          <a:xfrm>
            <a:off x="5020056" y="4764024"/>
            <a:ext cx="502920" cy="219456"/>
          </a:xfrm>
          <a:prstGeom prst="right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815584" y="4544568"/>
            <a:ext cx="5623560" cy="603504"/>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r>
              <a:rPr sz="1300" b="1">
                <a:solidFill>
                  <a:srgbClr val="E2E8F0"/>
                </a:solidFill>
                <a:latin typeface="Segoe UI"/>
              </a:rPr>
              <a:t>Deterministic scaffolding — build tooling never AI-generated</a:t>
            </a:r>
          </a:p>
        </p:txBody>
      </p:sp>
      <p:sp>
        <p:nvSpPr>
          <p:cNvPr id="22" name="Rounded Rectangle 21"/>
          <p:cNvSpPr/>
          <p:nvPr/>
        </p:nvSpPr>
        <p:spPr>
          <a:xfrm>
            <a:off x="566928" y="5248656"/>
            <a:ext cx="4160520" cy="603504"/>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r>
              <a:rPr sz="1300">
                <a:solidFill>
                  <a:srgbClr val="94A3B8"/>
                </a:solidFill>
                <a:latin typeface="Segoe UI"/>
              </a:rPr>
              <a:t>Output returned unverified</a:t>
            </a:r>
          </a:p>
        </p:txBody>
      </p:sp>
      <p:sp>
        <p:nvSpPr>
          <p:cNvPr id="23" name="Right Arrow 22"/>
          <p:cNvSpPr/>
          <p:nvPr/>
        </p:nvSpPr>
        <p:spPr>
          <a:xfrm>
            <a:off x="5020056" y="5468112"/>
            <a:ext cx="502920" cy="219456"/>
          </a:xfrm>
          <a:prstGeom prst="right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815584" y="5248656"/>
            <a:ext cx="5623560" cy="603504"/>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r>
              <a:rPr sz="1300" b="1">
                <a:solidFill>
                  <a:srgbClr val="E2E8F0"/>
                </a:solidFill>
                <a:latin typeface="Segoe UI"/>
              </a:rPr>
              <a:t>Automated review and improvement pass, plus generated tests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20624"/>
            <a:ext cx="82296" cy="47548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p>
        </p:txBody>
      </p:sp>
      <p:sp>
        <p:nvSpPr>
          <p:cNvPr id="4" name="TextBox 3"/>
          <p:cNvSpPr txBox="1"/>
          <p:nvPr/>
        </p:nvSpPr>
        <p:spPr>
          <a:xfrm>
            <a:off x="786384" y="384048"/>
            <a:ext cx="9960559" cy="548640"/>
          </a:xfrm>
          <a:prstGeom prst="rect">
            <a:avLst/>
          </a:prstGeom>
          <a:noFill/>
        </p:spPr>
        <p:txBody>
          <a:bodyPr wrap="square" lIns="0" rIns="0" tIns="0" bIns="0">
            <a:spAutoFit/>
          </a:bodyPr>
          <a:lstStyle/>
          <a:p>
            <a:pPr algn="l">
              <a:spcAft>
                <a:spcPts val="0"/>
              </a:spcAft>
            </a:pPr>
            <a:r>
              <a:rPr sz="2900" b="1">
                <a:solidFill>
                  <a:srgbClr val="E2E8F0"/>
                </a:solidFill>
                <a:latin typeface="Segoe UI"/>
              </a:rPr>
              <a:t>Objectives &amp; Scope</a:t>
            </a:r>
          </a:p>
          <a:p>
            <a:pPr algn="l">
              <a:spcAft>
                <a:spcPts val="0"/>
              </a:spcAft>
            </a:pPr>
            <a:r>
              <a:rPr sz="1300" b="0">
                <a:solidFill>
                  <a:srgbClr val="94A3B8"/>
                </a:solidFill>
                <a:latin typeface="Segoe UI"/>
              </a:rPr>
              <a:t>Five measurable objectives</a:t>
            </a:r>
          </a:p>
        </p:txBody>
      </p:sp>
      <p:sp>
        <p:nvSpPr>
          <p:cNvPr id="5" name="TextBox 4"/>
          <p:cNvSpPr txBox="1"/>
          <p:nvPr/>
        </p:nvSpPr>
        <p:spPr>
          <a:xfrm>
            <a:off x="566928" y="6345936"/>
            <a:ext cx="11057839" cy="274320"/>
          </a:xfrm>
          <a:prstGeom prst="rect">
            <a:avLst/>
          </a:prstGeom>
          <a:noFill/>
        </p:spPr>
        <p:txBody>
          <a:bodyPr wrap="square" lIns="0" rIns="0" tIns="0" bIns="0">
            <a:spAutoFit/>
          </a:bodyPr>
          <a:lstStyle/>
          <a:p>
            <a:pPr algn="l">
              <a:spcAft>
                <a:spcPts val="0"/>
              </a:spcAft>
            </a:pPr>
            <a:r>
              <a:rPr sz="1000" b="0">
                <a:solidFill>
                  <a:srgbClr val="94A3B8"/>
                </a:solidFill>
                <a:latin typeface="Segoe UI"/>
              </a:rPr>
              <a:t>AgileAgent  ·  Abstract Seminar  ·  Dept. of CSE, MVSREC (A)</a:t>
            </a:r>
          </a:p>
        </p:txBody>
      </p:sp>
      <p:sp>
        <p:nvSpPr>
          <p:cNvPr id="6" name="TextBox 5"/>
          <p:cNvSpPr txBox="1"/>
          <p:nvPr/>
        </p:nvSpPr>
        <p:spPr>
          <a:xfrm>
            <a:off x="10710367" y="6345936"/>
            <a:ext cx="914400" cy="274320"/>
          </a:xfrm>
          <a:prstGeom prst="rect">
            <a:avLst/>
          </a:prstGeom>
          <a:noFill/>
        </p:spPr>
        <p:txBody>
          <a:bodyPr wrap="square" lIns="0" rIns="0" tIns="0" bIns="0">
            <a:spAutoFit/>
          </a:bodyPr>
          <a:lstStyle/>
          <a:p>
            <a:pPr algn="r">
              <a:spcAft>
                <a:spcPts val="0"/>
              </a:spcAft>
            </a:pPr>
            <a:r>
              <a:rPr sz="1000" b="0">
                <a:solidFill>
                  <a:srgbClr val="94A3B8"/>
                </a:solidFill>
                <a:latin typeface="Segoe UI"/>
              </a:rPr>
              <a:t>6 / 12</a:t>
            </a:r>
          </a:p>
        </p:txBody>
      </p:sp>
      <p:sp>
        <p:nvSpPr>
          <p:cNvPr id="7" name="TextBox 6"/>
          <p:cNvSpPr txBox="1"/>
          <p:nvPr/>
        </p:nvSpPr>
        <p:spPr>
          <a:xfrm>
            <a:off x="566928" y="1298448"/>
            <a:ext cx="11057839" cy="4160520"/>
          </a:xfrm>
          <a:prstGeom prst="rect">
            <a:avLst/>
          </a:prstGeom>
          <a:noFill/>
        </p:spPr>
        <p:txBody>
          <a:bodyPr wrap="square" lIns="0" rIns="0" tIns="0" bIns="0">
            <a:spAutoFit/>
          </a:bodyPr>
          <a:lstStyle/>
          <a:p>
            <a:pPr>
              <a:spcAft>
                <a:spcPts val="1500"/>
              </a:spcAft>
            </a:pPr>
            <a:r>
              <a:rPr sz="1900">
                <a:solidFill>
                  <a:srgbClr val="38BDF8"/>
                </a:solidFill>
                <a:latin typeface="Segoe UI"/>
              </a:rPr>
              <a:t>▸  </a:t>
            </a:r>
            <a:r>
              <a:rPr sz="1900" b="1">
                <a:solidFill>
                  <a:srgbClr val="E2E8F0"/>
                </a:solidFill>
                <a:latin typeface="Segoe UI"/>
              </a:rPr>
              <a:t>1.  </a:t>
            </a:r>
            <a:r>
              <a:rPr sz="1900">
                <a:solidFill>
                  <a:srgbClr val="94A3B8"/>
                </a:solidFill>
                <a:latin typeface="Segoe UI"/>
              </a:rPr>
              <a:t>Design a multi-agent architecture of eleven roles over a single typed project state.</a:t>
            </a:r>
          </a:p>
          <a:p>
            <a:pPr>
              <a:spcAft>
                <a:spcPts val="1500"/>
              </a:spcAft>
            </a:pPr>
            <a:r>
              <a:rPr sz="1900">
                <a:solidFill>
                  <a:srgbClr val="38BDF8"/>
                </a:solidFill>
                <a:latin typeface="Segoe UI"/>
              </a:rPr>
              <a:t>▸  </a:t>
            </a:r>
            <a:r>
              <a:rPr sz="1900" b="1">
                <a:solidFill>
                  <a:srgbClr val="E2E8F0"/>
                </a:solidFill>
                <a:latin typeface="Segoe UI"/>
              </a:rPr>
              <a:t>2.  </a:t>
            </a:r>
            <a:r>
              <a:rPr sz="1900">
                <a:solidFill>
                  <a:srgbClr val="94A3B8"/>
                </a:solidFill>
                <a:latin typeface="Segoe UI"/>
              </a:rPr>
              <a:t>Build a capability-driven workflow engine that states a reason for every skipped agent.</a:t>
            </a:r>
          </a:p>
          <a:p>
            <a:pPr>
              <a:spcAft>
                <a:spcPts val="1500"/>
              </a:spcAft>
            </a:pPr>
            <a:r>
              <a:rPr sz="1900">
                <a:solidFill>
                  <a:srgbClr val="38BDF8"/>
                </a:solidFill>
                <a:latin typeface="Segoe UI"/>
              </a:rPr>
              <a:t>▸  </a:t>
            </a:r>
            <a:r>
              <a:rPr sz="1900" b="1">
                <a:solidFill>
                  <a:srgbClr val="E2E8F0"/>
                </a:solidFill>
                <a:latin typeface="Segoe UI"/>
              </a:rPr>
              <a:t>3.  </a:t>
            </a:r>
            <a:r>
              <a:rPr sz="1900">
                <a:solidFill>
                  <a:srgbClr val="94A3B8"/>
                </a:solidFill>
                <a:latin typeface="Segoe UI"/>
              </a:rPr>
              <a:t>Implement provider-agnostic orchestration — routing, retry, failover, caching — across six providers.</a:t>
            </a:r>
          </a:p>
          <a:p>
            <a:pPr>
              <a:spcAft>
                <a:spcPts val="1500"/>
              </a:spcAft>
            </a:pPr>
            <a:r>
              <a:rPr sz="1900">
                <a:solidFill>
                  <a:srgbClr val="38BDF8"/>
                </a:solidFill>
                <a:latin typeface="Segoe UI"/>
              </a:rPr>
              <a:t>▸  </a:t>
            </a:r>
            <a:r>
              <a:rPr sz="1900" b="1">
                <a:solidFill>
                  <a:srgbClr val="E2E8F0"/>
                </a:solidFill>
                <a:latin typeface="Segoe UI"/>
              </a:rPr>
              <a:t>4.  </a:t>
            </a:r>
            <a:r>
              <a:rPr sz="1900">
                <a:solidFill>
                  <a:srgbClr val="94A3B8"/>
                </a:solidFill>
                <a:latin typeface="Segoe UI"/>
              </a:rPr>
              <a:t>Guarantee structure via deterministic build tooling and two-phase plan-then-generate code output.</a:t>
            </a:r>
          </a:p>
          <a:p>
            <a:pPr>
              <a:spcAft>
                <a:spcPts val="1500"/>
              </a:spcAft>
            </a:pPr>
            <a:r>
              <a:rPr sz="1900">
                <a:solidFill>
                  <a:srgbClr val="38BDF8"/>
                </a:solidFill>
                <a:latin typeface="Segoe UI"/>
              </a:rPr>
              <a:t>▸  </a:t>
            </a:r>
            <a:r>
              <a:rPr sz="1900" b="1">
                <a:solidFill>
                  <a:srgbClr val="E2E8F0"/>
                </a:solidFill>
                <a:latin typeface="Segoe UI"/>
              </a:rPr>
              <a:t>5.  </a:t>
            </a:r>
            <a:r>
              <a:rPr sz="1900">
                <a:solidFill>
                  <a:srgbClr val="94A3B8"/>
                </a:solidFill>
                <a:latin typeface="Segoe UI"/>
              </a:rPr>
              <a:t>Deliver a packaged, reviewed, documented project with an auditable engineering report.</a:t>
            </a:r>
          </a:p>
        </p:txBody>
      </p:sp>
      <p:sp>
        <p:nvSpPr>
          <p:cNvPr id="8" name="Rounded Rectangle 7"/>
          <p:cNvSpPr/>
          <p:nvPr/>
        </p:nvSpPr>
        <p:spPr>
          <a:xfrm>
            <a:off x="566928" y="5504688"/>
            <a:ext cx="11057839" cy="658368"/>
          </a:xfrm>
          <a:prstGeom prst="round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600" b="1">
                <a:solidFill>
                  <a:srgbClr val="E2E8F0"/>
                </a:solidFill>
                <a:latin typeface="Segoe UI"/>
              </a:rPr>
              <a:t>Out of scope: cloud deployment · CI/CD generation · GitHub push · vector memory · multi-tenant SaaS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20624"/>
            <a:ext cx="82296" cy="47548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p>
        </p:txBody>
      </p:sp>
      <p:sp>
        <p:nvSpPr>
          <p:cNvPr id="4" name="TextBox 3"/>
          <p:cNvSpPr txBox="1"/>
          <p:nvPr/>
        </p:nvSpPr>
        <p:spPr>
          <a:xfrm>
            <a:off x="786384" y="384048"/>
            <a:ext cx="9960559" cy="548640"/>
          </a:xfrm>
          <a:prstGeom prst="rect">
            <a:avLst/>
          </a:prstGeom>
          <a:noFill/>
        </p:spPr>
        <p:txBody>
          <a:bodyPr wrap="square" lIns="0" rIns="0" tIns="0" bIns="0">
            <a:spAutoFit/>
          </a:bodyPr>
          <a:lstStyle/>
          <a:p>
            <a:pPr algn="l">
              <a:spcAft>
                <a:spcPts val="0"/>
              </a:spcAft>
            </a:pPr>
            <a:r>
              <a:rPr sz="2900" b="1">
                <a:solidFill>
                  <a:srgbClr val="E2E8F0"/>
                </a:solidFill>
                <a:latin typeface="Segoe UI"/>
              </a:rPr>
              <a:t>Literature Survey &amp; Research Gap</a:t>
            </a:r>
          </a:p>
        </p:txBody>
      </p:sp>
      <p:sp>
        <p:nvSpPr>
          <p:cNvPr id="5" name="TextBox 4"/>
          <p:cNvSpPr txBox="1"/>
          <p:nvPr/>
        </p:nvSpPr>
        <p:spPr>
          <a:xfrm>
            <a:off x="566928" y="6345936"/>
            <a:ext cx="11057839" cy="274320"/>
          </a:xfrm>
          <a:prstGeom prst="rect">
            <a:avLst/>
          </a:prstGeom>
          <a:noFill/>
        </p:spPr>
        <p:txBody>
          <a:bodyPr wrap="square" lIns="0" rIns="0" tIns="0" bIns="0">
            <a:spAutoFit/>
          </a:bodyPr>
          <a:lstStyle/>
          <a:p>
            <a:pPr algn="l">
              <a:spcAft>
                <a:spcPts val="0"/>
              </a:spcAft>
            </a:pPr>
            <a:r>
              <a:rPr sz="1000" b="0">
                <a:solidFill>
                  <a:srgbClr val="94A3B8"/>
                </a:solidFill>
                <a:latin typeface="Segoe UI"/>
              </a:rPr>
              <a:t>AgileAgent  ·  Abstract Seminar  ·  Dept. of CSE, MVSREC (A)</a:t>
            </a:r>
          </a:p>
        </p:txBody>
      </p:sp>
      <p:sp>
        <p:nvSpPr>
          <p:cNvPr id="6" name="TextBox 5"/>
          <p:cNvSpPr txBox="1"/>
          <p:nvPr/>
        </p:nvSpPr>
        <p:spPr>
          <a:xfrm>
            <a:off x="10710367" y="6345936"/>
            <a:ext cx="914400" cy="274320"/>
          </a:xfrm>
          <a:prstGeom prst="rect">
            <a:avLst/>
          </a:prstGeom>
          <a:noFill/>
        </p:spPr>
        <p:txBody>
          <a:bodyPr wrap="square" lIns="0" rIns="0" tIns="0" bIns="0">
            <a:spAutoFit/>
          </a:bodyPr>
          <a:lstStyle/>
          <a:p>
            <a:pPr algn="r">
              <a:spcAft>
                <a:spcPts val="0"/>
              </a:spcAft>
            </a:pPr>
            <a:r>
              <a:rPr sz="1000" b="0">
                <a:solidFill>
                  <a:srgbClr val="94A3B8"/>
                </a:solidFill>
                <a:latin typeface="Segoe UI"/>
              </a:rPr>
              <a:t>7 / 12</a:t>
            </a:r>
          </a:p>
        </p:txBody>
      </p:sp>
      <p:graphicFrame>
        <p:nvGraphicFramePr>
          <p:cNvPr id="7" name="Table 6"/>
          <p:cNvGraphicFramePr>
            <a:graphicFrameLocks noGrp="1"/>
          </p:cNvGraphicFramePr>
          <p:nvPr/>
        </p:nvGraphicFramePr>
        <p:xfrm>
          <a:off x="566928" y="1298448"/>
          <a:ext cx="11055096" cy="3246120"/>
        </p:xfrm>
        <a:graphic>
          <a:graphicData uri="http://schemas.openxmlformats.org/drawingml/2006/table">
            <a:tbl>
              <a:tblPr firstRow="1" bandRow="1">
                <a:tableStyleId>{5C22544A-7EE6-4342-B048-85BDC9FD1C3A}</a:tableStyleId>
              </a:tblPr>
              <a:tblGrid>
                <a:gridCol w="2395728"/>
                <a:gridCol w="2880360"/>
                <a:gridCol w="2834640"/>
                <a:gridCol w="2944368"/>
              </a:tblGrid>
              <a:tr h="541020">
                <a:tc>
                  <a:txBody>
                    <a:bodyPr wrap="square"/>
                    <a:lstStyle/>
                    <a:p>
                      <a:r>
                        <a:rPr sz="1100" b="1">
                          <a:solidFill>
                            <a:srgbClr val="E2E8F0"/>
                          </a:solidFill>
                          <a:latin typeface="Segoe UI"/>
                        </a:rPr>
                        <a:t>Author, Year</a:t>
                      </a:r>
                    </a:p>
                  </a:txBody>
                  <a:tcPr marL="82296" marR="82296" marT="45720" marB="45720" anchor="ctr">
                    <a:solidFill>
                      <a:srgbClr val="0E7490"/>
                    </a:solidFill>
                  </a:tcPr>
                </a:tc>
                <a:tc>
                  <a:txBody>
                    <a:bodyPr wrap="square"/>
                    <a:lstStyle/>
                    <a:p>
                      <a:r>
                        <a:rPr sz="1100" b="1">
                          <a:solidFill>
                            <a:srgbClr val="E2E8F0"/>
                          </a:solidFill>
                          <a:latin typeface="Segoe UI"/>
                        </a:rPr>
                        <a:t>Method / Technique</a:t>
                      </a:r>
                    </a:p>
                  </a:txBody>
                  <a:tcPr marL="82296" marR="82296" marT="45720" marB="45720" anchor="ctr">
                    <a:solidFill>
                      <a:srgbClr val="0E7490"/>
                    </a:solidFill>
                  </a:tcPr>
                </a:tc>
                <a:tc>
                  <a:txBody>
                    <a:bodyPr wrap="square"/>
                    <a:lstStyle/>
                    <a:p>
                      <a:r>
                        <a:rPr sz="1100" b="1">
                          <a:solidFill>
                            <a:srgbClr val="E2E8F0"/>
                          </a:solidFill>
                          <a:latin typeface="Segoe UI"/>
                        </a:rPr>
                        <a:t>Findings</a:t>
                      </a:r>
                    </a:p>
                  </a:txBody>
                  <a:tcPr marL="82296" marR="82296" marT="45720" marB="45720" anchor="ctr">
                    <a:solidFill>
                      <a:srgbClr val="0E7490"/>
                    </a:solidFill>
                  </a:tcPr>
                </a:tc>
                <a:tc>
                  <a:txBody>
                    <a:bodyPr wrap="square"/>
                    <a:lstStyle/>
                    <a:p>
                      <a:r>
                        <a:rPr sz="1100" b="1">
                          <a:solidFill>
                            <a:srgbClr val="E2E8F0"/>
                          </a:solidFill>
                          <a:latin typeface="Segoe UI"/>
                        </a:rPr>
                        <a:t>Limitation</a:t>
                      </a:r>
                    </a:p>
                  </a:txBody>
                  <a:tcPr marL="82296" marR="82296" marT="45720" marB="45720" anchor="ctr">
                    <a:solidFill>
                      <a:srgbClr val="0E7490"/>
                    </a:solidFill>
                  </a:tcPr>
                </a:tc>
              </a:tr>
              <a:tr h="541020">
                <a:tc>
                  <a:txBody>
                    <a:bodyPr wrap="square"/>
                    <a:lstStyle/>
                    <a:p>
                      <a:r>
                        <a:rPr sz="1000" b="1">
                          <a:solidFill>
                            <a:srgbClr val="E2E8F0"/>
                          </a:solidFill>
                          <a:latin typeface="Segoe UI"/>
                        </a:rPr>
                        <a:t>Chen et al., 2021
(Codex)</a:t>
                      </a:r>
                    </a:p>
                  </a:txBody>
                  <a:tcPr marL="82296" marR="82296" marT="45720" marB="45720" anchor="ctr">
                    <a:solidFill>
                      <a:srgbClr val="1E293B"/>
                    </a:solidFill>
                  </a:tcPr>
                </a:tc>
                <a:tc>
                  <a:txBody>
                    <a:bodyPr wrap="square"/>
                    <a:lstStyle/>
                    <a:p>
                      <a:r>
                        <a:rPr sz="1000" b="0">
                          <a:solidFill>
                            <a:srgbClr val="94A3B8"/>
                          </a:solidFill>
                          <a:latin typeface="Segoe UI"/>
                        </a:rPr>
                        <a:t>LLM trained on public code; HumanEval benchmark</a:t>
                      </a:r>
                    </a:p>
                  </a:txBody>
                  <a:tcPr marL="82296" marR="82296" marT="45720" marB="45720" anchor="ctr">
                    <a:solidFill>
                      <a:srgbClr val="1E293B"/>
                    </a:solidFill>
                  </a:tcPr>
                </a:tc>
                <a:tc>
                  <a:txBody>
                    <a:bodyPr wrap="square"/>
                    <a:lstStyle/>
                    <a:p>
                      <a:r>
                        <a:rPr sz="1000" b="0">
                          <a:solidFill>
                            <a:srgbClr val="94A3B8"/>
                          </a:solidFill>
                          <a:latin typeface="Segoe UI"/>
                        </a:rPr>
                        <a:t>28.8% pass@1;
~70% pass@100</a:t>
                      </a:r>
                    </a:p>
                  </a:txBody>
                  <a:tcPr marL="82296" marR="82296" marT="45720" marB="45720" anchor="ctr">
                    <a:solidFill>
                      <a:srgbClr val="1E293B"/>
                    </a:solidFill>
                  </a:tcPr>
                </a:tc>
                <a:tc>
                  <a:txBody>
                    <a:bodyPr wrap="square"/>
                    <a:lstStyle/>
                    <a:p>
                      <a:r>
                        <a:rPr sz="1000" b="0">
                          <a:solidFill>
                            <a:srgbClr val="F87171"/>
                          </a:solidFill>
                          <a:latin typeface="Segoe UI"/>
                        </a:rPr>
                        <a:t>Isolated functions only; no multi-file project structure</a:t>
                      </a:r>
                    </a:p>
                  </a:txBody>
                  <a:tcPr marL="82296" marR="82296" marT="45720" marB="45720" anchor="ctr">
                    <a:solidFill>
                      <a:srgbClr val="1E293B"/>
                    </a:solidFill>
                  </a:tcPr>
                </a:tc>
              </a:tr>
              <a:tr h="541020">
                <a:tc>
                  <a:txBody>
                    <a:bodyPr wrap="square"/>
                    <a:lstStyle/>
                    <a:p>
                      <a:r>
                        <a:rPr sz="1000" b="1">
                          <a:solidFill>
                            <a:srgbClr val="E2E8F0"/>
                          </a:solidFill>
                          <a:latin typeface="Segoe UI"/>
                        </a:rPr>
                        <a:t>Yao et al., 2022
(ReAct)</a:t>
                      </a:r>
                    </a:p>
                  </a:txBody>
                  <a:tcPr marL="82296" marR="82296" marT="45720" marB="45720" anchor="ctr">
                    <a:solidFill>
                      <a:srgbClr val="172133"/>
                    </a:solidFill>
                  </a:tcPr>
                </a:tc>
                <a:tc>
                  <a:txBody>
                    <a:bodyPr wrap="square"/>
                    <a:lstStyle/>
                    <a:p>
                      <a:r>
                        <a:rPr sz="1000" b="0">
                          <a:solidFill>
                            <a:srgbClr val="94A3B8"/>
                          </a:solidFill>
                          <a:latin typeface="Segoe UI"/>
                        </a:rPr>
                        <a:t>Interleaves reasoning traces with tool actions</a:t>
                      </a:r>
                    </a:p>
                  </a:txBody>
                  <a:tcPr marL="82296" marR="82296" marT="45720" marB="45720" anchor="ctr">
                    <a:solidFill>
                      <a:srgbClr val="172133"/>
                    </a:solidFill>
                  </a:tcPr>
                </a:tc>
                <a:tc>
                  <a:txBody>
                    <a:bodyPr wrap="square"/>
                    <a:lstStyle/>
                    <a:p>
                      <a:r>
                        <a:rPr sz="1000" b="0">
                          <a:solidFill>
                            <a:srgbClr val="94A3B8"/>
                          </a:solidFill>
                          <a:latin typeface="Segoe UI"/>
                        </a:rPr>
                        <a:t>Less hallucination than chain-of-thought alone</a:t>
                      </a:r>
                    </a:p>
                  </a:txBody>
                  <a:tcPr marL="82296" marR="82296" marT="45720" marB="45720" anchor="ctr">
                    <a:solidFill>
                      <a:srgbClr val="172133"/>
                    </a:solidFill>
                  </a:tcPr>
                </a:tc>
                <a:tc>
                  <a:txBody>
                    <a:bodyPr wrap="square"/>
                    <a:lstStyle/>
                    <a:p>
                      <a:r>
                        <a:rPr sz="1000" b="0">
                          <a:solidFill>
                            <a:srgbClr val="F87171"/>
                          </a:solidFill>
                          <a:latin typeface="Segoe UI"/>
                        </a:rPr>
                        <a:t>Single agent; no role specialisation or persistent artifacts</a:t>
                      </a:r>
                    </a:p>
                  </a:txBody>
                  <a:tcPr marL="82296" marR="82296" marT="45720" marB="45720" anchor="ctr">
                    <a:solidFill>
                      <a:srgbClr val="172133"/>
                    </a:solidFill>
                  </a:tcPr>
                </a:tc>
              </a:tr>
              <a:tr h="541020">
                <a:tc>
                  <a:txBody>
                    <a:bodyPr wrap="square"/>
                    <a:lstStyle/>
                    <a:p>
                      <a:r>
                        <a:rPr sz="1000" b="1">
                          <a:solidFill>
                            <a:srgbClr val="E2E8F0"/>
                          </a:solidFill>
                          <a:latin typeface="Segoe UI"/>
                        </a:rPr>
                        <a:t>Hong et al., 2023
(MetaGPT)</a:t>
                      </a:r>
                    </a:p>
                  </a:txBody>
                  <a:tcPr marL="82296" marR="82296" marT="45720" marB="45720" anchor="ctr">
                    <a:solidFill>
                      <a:srgbClr val="1E293B"/>
                    </a:solidFill>
                  </a:tcPr>
                </a:tc>
                <a:tc>
                  <a:txBody>
                    <a:bodyPr wrap="square"/>
                    <a:lstStyle/>
                    <a:p>
                      <a:r>
                        <a:rPr sz="1000" b="0">
                          <a:solidFill>
                            <a:srgbClr val="94A3B8"/>
                          </a:solidFill>
                          <a:latin typeface="Segoe UI"/>
                        </a:rPr>
                        <a:t>Standard operating procedures encoded into agent roles</a:t>
                      </a:r>
                    </a:p>
                  </a:txBody>
                  <a:tcPr marL="82296" marR="82296" marT="45720" marB="45720" anchor="ctr">
                    <a:solidFill>
                      <a:srgbClr val="1E293B"/>
                    </a:solidFill>
                  </a:tcPr>
                </a:tc>
                <a:tc>
                  <a:txBody>
                    <a:bodyPr wrap="square"/>
                    <a:lstStyle/>
                    <a:p>
                      <a:r>
                        <a:rPr sz="1000" b="0">
                          <a:solidFill>
                            <a:srgbClr val="94A3B8"/>
                          </a:solidFill>
                          <a:latin typeface="Segoe UI"/>
                        </a:rPr>
                        <a:t>Outperforms single-agent baselines on software tasks</a:t>
                      </a:r>
                    </a:p>
                  </a:txBody>
                  <a:tcPr marL="82296" marR="82296" marT="45720" marB="45720" anchor="ctr">
                    <a:solidFill>
                      <a:srgbClr val="1E293B"/>
                    </a:solidFill>
                  </a:tcPr>
                </a:tc>
                <a:tc>
                  <a:txBody>
                    <a:bodyPr wrap="square"/>
                    <a:lstStyle/>
                    <a:p>
                      <a:r>
                        <a:rPr sz="1000" b="0">
                          <a:solidFill>
                            <a:srgbClr val="F87171"/>
                          </a:solidFill>
                          <a:latin typeface="Segoe UI"/>
                        </a:rPr>
                        <a:t>Fixed waterfall for every input; one LLM backend</a:t>
                      </a:r>
                    </a:p>
                  </a:txBody>
                  <a:tcPr marL="82296" marR="82296" marT="45720" marB="45720" anchor="ctr">
                    <a:solidFill>
                      <a:srgbClr val="1E293B"/>
                    </a:solidFill>
                  </a:tcPr>
                </a:tc>
              </a:tr>
              <a:tr h="541020">
                <a:tc>
                  <a:txBody>
                    <a:bodyPr wrap="square"/>
                    <a:lstStyle/>
                    <a:p>
                      <a:r>
                        <a:rPr sz="1000" b="1">
                          <a:solidFill>
                            <a:srgbClr val="E2E8F0"/>
                          </a:solidFill>
                          <a:latin typeface="Segoe UI"/>
                        </a:rPr>
                        <a:t>Qian et al., 2023
(ChatDev)</a:t>
                      </a:r>
                    </a:p>
                  </a:txBody>
                  <a:tcPr marL="82296" marR="82296" marT="45720" marB="45720" anchor="ctr">
                    <a:solidFill>
                      <a:srgbClr val="172133"/>
                    </a:solidFill>
                  </a:tcPr>
                </a:tc>
                <a:tc>
                  <a:txBody>
                    <a:bodyPr wrap="square"/>
                    <a:lstStyle/>
                    <a:p>
                      <a:r>
                        <a:rPr sz="1000" b="0">
                          <a:solidFill>
                            <a:srgbClr val="94A3B8"/>
                          </a:solidFill>
                          <a:latin typeface="Segoe UI"/>
                        </a:rPr>
                        <a:t>Chat-chain 'virtual software company' of paired roles</a:t>
                      </a:r>
                    </a:p>
                  </a:txBody>
                  <a:tcPr marL="82296" marR="82296" marT="45720" marB="45720" anchor="ctr">
                    <a:solidFill>
                      <a:srgbClr val="172133"/>
                    </a:solidFill>
                  </a:tcPr>
                </a:tc>
                <a:tc>
                  <a:txBody>
                    <a:bodyPr wrap="square"/>
                    <a:lstStyle/>
                    <a:p>
                      <a:r>
                        <a:rPr sz="1000" b="0">
                          <a:solidFill>
                            <a:srgbClr val="94A3B8"/>
                          </a:solidFill>
                          <a:latin typeface="Segoe UI"/>
                        </a:rPr>
                        <a:t>Completes small software in minutes, at low cost</a:t>
                      </a:r>
                    </a:p>
                  </a:txBody>
                  <a:tcPr marL="82296" marR="82296" marT="45720" marB="45720" anchor="ctr">
                    <a:solidFill>
                      <a:srgbClr val="172133"/>
                    </a:solidFill>
                  </a:tcPr>
                </a:tc>
                <a:tc>
                  <a:txBody>
                    <a:bodyPr wrap="square"/>
                    <a:lstStyle/>
                    <a:p>
                      <a:r>
                        <a:rPr sz="1000" b="0">
                          <a:solidFill>
                            <a:srgbClr val="F87171"/>
                          </a:solidFill>
                          <a:latin typeface="Segoe UI"/>
                        </a:rPr>
                        <a:t>Toy scale; build config LLM-written; correctness unverified</a:t>
                      </a:r>
                    </a:p>
                  </a:txBody>
                  <a:tcPr marL="82296" marR="82296" marT="45720" marB="45720" anchor="ctr">
                    <a:solidFill>
                      <a:srgbClr val="172133"/>
                    </a:solidFill>
                  </a:tcPr>
                </a:tc>
              </a:tr>
              <a:tr h="541020">
                <a:tc>
                  <a:txBody>
                    <a:bodyPr wrap="square"/>
                    <a:lstStyle/>
                    <a:p>
                      <a:r>
                        <a:rPr sz="1000" b="1">
                          <a:solidFill>
                            <a:srgbClr val="E2E8F0"/>
                          </a:solidFill>
                          <a:latin typeface="Segoe UI"/>
                        </a:rPr>
                        <a:t>Wu et al., 2023
(AutoGen)</a:t>
                      </a:r>
                    </a:p>
                  </a:txBody>
                  <a:tcPr marL="82296" marR="82296" marT="45720" marB="45720" anchor="ctr">
                    <a:solidFill>
                      <a:srgbClr val="1E293B"/>
                    </a:solidFill>
                  </a:tcPr>
                </a:tc>
                <a:tc>
                  <a:txBody>
                    <a:bodyPr wrap="square"/>
                    <a:lstStyle/>
                    <a:p>
                      <a:r>
                        <a:rPr sz="1000" b="0">
                          <a:solidFill>
                            <a:srgbClr val="94A3B8"/>
                          </a:solidFill>
                          <a:latin typeface="Segoe UI"/>
                        </a:rPr>
                        <a:t>Generic framework of conversable, composable agents</a:t>
                      </a:r>
                    </a:p>
                  </a:txBody>
                  <a:tcPr marL="82296" marR="82296" marT="45720" marB="45720" anchor="ctr">
                    <a:solidFill>
                      <a:srgbClr val="1E293B"/>
                    </a:solidFill>
                  </a:tcPr>
                </a:tc>
                <a:tc>
                  <a:txBody>
                    <a:bodyPr wrap="square"/>
                    <a:lstStyle/>
                    <a:p>
                      <a:r>
                        <a:rPr sz="1000" b="0">
                          <a:solidFill>
                            <a:srgbClr val="94A3B8"/>
                          </a:solidFill>
                          <a:latin typeface="Segoe UI"/>
                        </a:rPr>
                        <a:t>Flexible orchestration across many domains</a:t>
                      </a:r>
                    </a:p>
                  </a:txBody>
                  <a:tcPr marL="82296" marR="82296" marT="45720" marB="45720" anchor="ctr">
                    <a:solidFill>
                      <a:srgbClr val="1E293B"/>
                    </a:solidFill>
                  </a:tcPr>
                </a:tc>
                <a:tc>
                  <a:txBody>
                    <a:bodyPr wrap="square"/>
                    <a:lstStyle/>
                    <a:p>
                      <a:r>
                        <a:rPr sz="1000" b="0">
                          <a:solidFill>
                            <a:srgbClr val="F87171"/>
                          </a:solidFill>
                          <a:latin typeface="Segoe UI"/>
                        </a:rPr>
                        <a:t>Developer must design the loop; no SDLC artifacts or packaging</a:t>
                      </a:r>
                    </a:p>
                  </a:txBody>
                  <a:tcPr marL="82296" marR="82296" marT="45720" marB="45720" anchor="ctr">
                    <a:solidFill>
                      <a:srgbClr val="1E293B"/>
                    </a:solidFill>
                  </a:tcPr>
                </a:tc>
              </a:tr>
            </a:tbl>
          </a:graphicData>
        </a:graphic>
      </p:graphicFrame>
      <p:sp>
        <p:nvSpPr>
          <p:cNvPr id="8" name="Rounded Rectangle 7"/>
          <p:cNvSpPr/>
          <p:nvPr/>
        </p:nvSpPr>
        <p:spPr>
          <a:xfrm>
            <a:off x="566928" y="4736592"/>
            <a:ext cx="11057839" cy="1408176"/>
          </a:xfrm>
          <a:prstGeom prst="roundRect">
            <a:avLst/>
          </a:prstGeom>
          <a:solidFill>
            <a:srgbClr val="1E293B"/>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400"/>
              </a:spcAft>
            </a:pPr>
            <a:r>
              <a:rPr sz="1500" b="1">
                <a:solidFill>
                  <a:srgbClr val="38BDF8"/>
                </a:solidFill>
                <a:latin typeface="Segoe UI"/>
              </a:rPr>
              <a:t>RESEARCH GAP</a:t>
            </a:r>
          </a:p>
          <a:p>
            <a:pPr algn="l">
              <a:spcAft>
                <a:spcPts val="0"/>
              </a:spcAft>
            </a:pPr>
            <a:r>
              <a:rPr sz="1300" b="0">
                <a:solidFill>
                  <a:srgbClr val="E2E8F0"/>
                </a:solidFill>
                <a:latin typeface="Segoe UI"/>
              </a:rPr>
              <a:t>Existing multi-agent frameworks share four unaddressed weaknesses:  (a) a fixed pipeline is executed regardless of what the project requires,  (b) they depend on a single model provider, so one quota aborts a long run,  (c) the language model writes build configuration — where silent breakage originates, and  (d) code is returned with no review pass and no traceable artifact set.  AgileAgent is designed to address all four.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20624"/>
            <a:ext cx="82296" cy="47548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p>
        </p:txBody>
      </p:sp>
      <p:sp>
        <p:nvSpPr>
          <p:cNvPr id="4" name="TextBox 3"/>
          <p:cNvSpPr txBox="1"/>
          <p:nvPr/>
        </p:nvSpPr>
        <p:spPr>
          <a:xfrm>
            <a:off x="786384" y="384048"/>
            <a:ext cx="9960559" cy="548640"/>
          </a:xfrm>
          <a:prstGeom prst="rect">
            <a:avLst/>
          </a:prstGeom>
          <a:noFill/>
        </p:spPr>
        <p:txBody>
          <a:bodyPr wrap="square" lIns="0" rIns="0" tIns="0" bIns="0">
            <a:spAutoFit/>
          </a:bodyPr>
          <a:lstStyle/>
          <a:p>
            <a:pPr algn="l">
              <a:spcAft>
                <a:spcPts val="0"/>
              </a:spcAft>
            </a:pPr>
            <a:r>
              <a:rPr sz="2900" b="1">
                <a:solidFill>
                  <a:srgbClr val="E2E8F0"/>
                </a:solidFill>
                <a:latin typeface="Segoe UI"/>
              </a:rPr>
              <a:t>Proposed Methodology</a:t>
            </a:r>
          </a:p>
          <a:p>
            <a:pPr algn="l">
              <a:spcAft>
                <a:spcPts val="0"/>
              </a:spcAft>
            </a:pPr>
            <a:r>
              <a:rPr sz="1300" b="0">
                <a:solidFill>
                  <a:srgbClr val="94A3B8"/>
                </a:solidFill>
                <a:latin typeface="Segoe UI"/>
              </a:rPr>
              <a:t>End-to-end working procedure</a:t>
            </a:r>
          </a:p>
        </p:txBody>
      </p:sp>
      <p:sp>
        <p:nvSpPr>
          <p:cNvPr id="5" name="TextBox 4"/>
          <p:cNvSpPr txBox="1"/>
          <p:nvPr/>
        </p:nvSpPr>
        <p:spPr>
          <a:xfrm>
            <a:off x="566928" y="6345936"/>
            <a:ext cx="11057839" cy="274320"/>
          </a:xfrm>
          <a:prstGeom prst="rect">
            <a:avLst/>
          </a:prstGeom>
          <a:noFill/>
        </p:spPr>
        <p:txBody>
          <a:bodyPr wrap="square" lIns="0" rIns="0" tIns="0" bIns="0">
            <a:spAutoFit/>
          </a:bodyPr>
          <a:lstStyle/>
          <a:p>
            <a:pPr algn="l">
              <a:spcAft>
                <a:spcPts val="0"/>
              </a:spcAft>
            </a:pPr>
            <a:r>
              <a:rPr sz="1000" b="0">
                <a:solidFill>
                  <a:srgbClr val="94A3B8"/>
                </a:solidFill>
                <a:latin typeface="Segoe UI"/>
              </a:rPr>
              <a:t>AgileAgent  ·  Abstract Seminar  ·  Dept. of CSE, MVSREC (A)</a:t>
            </a:r>
          </a:p>
        </p:txBody>
      </p:sp>
      <p:sp>
        <p:nvSpPr>
          <p:cNvPr id="6" name="TextBox 5"/>
          <p:cNvSpPr txBox="1"/>
          <p:nvPr/>
        </p:nvSpPr>
        <p:spPr>
          <a:xfrm>
            <a:off x="10710367" y="6345936"/>
            <a:ext cx="914400" cy="274320"/>
          </a:xfrm>
          <a:prstGeom prst="rect">
            <a:avLst/>
          </a:prstGeom>
          <a:noFill/>
        </p:spPr>
        <p:txBody>
          <a:bodyPr wrap="square" lIns="0" rIns="0" tIns="0" bIns="0">
            <a:spAutoFit/>
          </a:bodyPr>
          <a:lstStyle/>
          <a:p>
            <a:pPr algn="r">
              <a:spcAft>
                <a:spcPts val="0"/>
              </a:spcAft>
            </a:pPr>
            <a:r>
              <a:rPr sz="1000" b="0">
                <a:solidFill>
                  <a:srgbClr val="94A3B8"/>
                </a:solidFill>
                <a:latin typeface="Segoe UI"/>
              </a:rPr>
              <a:t>8 / 12</a:t>
            </a:r>
          </a:p>
        </p:txBody>
      </p:sp>
      <p:sp>
        <p:nvSpPr>
          <p:cNvPr id="7" name="Rounded Rectangle 6"/>
          <p:cNvSpPr/>
          <p:nvPr/>
        </p:nvSpPr>
        <p:spPr>
          <a:xfrm>
            <a:off x="566928" y="1298448"/>
            <a:ext cx="5532120" cy="749808"/>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500" b="1">
                <a:solidFill>
                  <a:srgbClr val="38BDF8"/>
                </a:solidFill>
                <a:latin typeface="Segoe UI"/>
              </a:rPr>
              <a:t>1   </a:t>
            </a:r>
            <a:r>
              <a:rPr sz="1400" b="1">
                <a:solidFill>
                  <a:srgbClr val="E2E8F0"/>
                </a:solidFill>
                <a:latin typeface="Segoe UI"/>
              </a:rPr>
              <a:t>Idea intake</a:t>
            </a:r>
          </a:p>
          <a:p>
            <a:r>
              <a:rPr sz="1100">
                <a:solidFill>
                  <a:srgbClr val="94A3B8"/>
                </a:solidFill>
                <a:latin typeface="Segoe UI"/>
              </a:rPr>
              <a:t>      the user describes the software in plain language</a:t>
            </a:r>
          </a:p>
        </p:txBody>
      </p:sp>
      <p:sp>
        <p:nvSpPr>
          <p:cNvPr id="8" name="Rounded Rectangle 7"/>
          <p:cNvSpPr/>
          <p:nvPr/>
        </p:nvSpPr>
        <p:spPr>
          <a:xfrm>
            <a:off x="566928" y="2148840"/>
            <a:ext cx="5532120" cy="749808"/>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500" b="1">
                <a:solidFill>
                  <a:srgbClr val="38BDF8"/>
                </a:solidFill>
                <a:latin typeface="Segoe UI"/>
              </a:rPr>
              <a:t>2   </a:t>
            </a:r>
            <a:r>
              <a:rPr sz="1400" b="1">
                <a:solidFill>
                  <a:srgbClr val="E2E8F0"/>
                </a:solidFill>
                <a:latin typeface="Segoe UI"/>
              </a:rPr>
              <a:t>Requirement analysis</a:t>
            </a:r>
          </a:p>
          <a:p>
            <a:r>
              <a:rPr sz="1100">
                <a:solidFill>
                  <a:srgbClr val="94A3B8"/>
                </a:solidFill>
                <a:latin typeface="Segoe UI"/>
              </a:rPr>
              <a:t>      SRS produced; five capability questions answered</a:t>
            </a:r>
          </a:p>
        </p:txBody>
      </p:sp>
      <p:sp>
        <p:nvSpPr>
          <p:cNvPr id="9" name="Rounded Rectangle 8"/>
          <p:cNvSpPr/>
          <p:nvPr/>
        </p:nvSpPr>
        <p:spPr>
          <a:xfrm>
            <a:off x="566928" y="2999232"/>
            <a:ext cx="5532120" cy="749808"/>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500" b="1">
                <a:solidFill>
                  <a:srgbClr val="38BDF8"/>
                </a:solidFill>
                <a:latin typeface="Segoe UI"/>
              </a:rPr>
              <a:t>3   </a:t>
            </a:r>
            <a:r>
              <a:rPr sz="1400" b="1">
                <a:solidFill>
                  <a:srgbClr val="E2E8F0"/>
                </a:solidFill>
                <a:latin typeface="Segoe UI"/>
              </a:rPr>
              <a:t>Technology recommendation</a:t>
            </a:r>
          </a:p>
          <a:p>
            <a:r>
              <a:rPr sz="1100">
                <a:solidFill>
                  <a:srgbClr val="94A3B8"/>
                </a:solidFill>
                <a:latin typeface="Segoe UI"/>
              </a:rPr>
              <a:t>      stacks scored against requirements, each ranking explained</a:t>
            </a:r>
          </a:p>
        </p:txBody>
      </p:sp>
      <p:sp>
        <p:nvSpPr>
          <p:cNvPr id="10" name="Rounded Rectangle 9"/>
          <p:cNvSpPr/>
          <p:nvPr/>
        </p:nvSpPr>
        <p:spPr>
          <a:xfrm>
            <a:off x="566928" y="3849624"/>
            <a:ext cx="5532120" cy="749808"/>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500" b="1">
                <a:solidFill>
                  <a:srgbClr val="38BDF8"/>
                </a:solidFill>
                <a:latin typeface="Segoe UI"/>
              </a:rPr>
              <a:t>4   </a:t>
            </a:r>
            <a:r>
              <a:rPr sz="1400" b="1">
                <a:solidFill>
                  <a:srgbClr val="E2E8F0"/>
                </a:solidFill>
                <a:latin typeface="Segoe UI"/>
              </a:rPr>
              <a:t>Stack review</a:t>
            </a:r>
          </a:p>
          <a:p>
            <a:r>
              <a:rPr sz="1100">
                <a:solidFill>
                  <a:srgbClr val="94A3B8"/>
                </a:solidFill>
                <a:latin typeface="Segoe UI"/>
              </a:rPr>
              <a:t>      the user may override any layer before execution</a:t>
            </a:r>
          </a:p>
        </p:txBody>
      </p:sp>
      <p:sp>
        <p:nvSpPr>
          <p:cNvPr id="11" name="Rounded Rectangle 10"/>
          <p:cNvSpPr/>
          <p:nvPr/>
        </p:nvSpPr>
        <p:spPr>
          <a:xfrm>
            <a:off x="566928" y="4700016"/>
            <a:ext cx="5532120" cy="749808"/>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500" b="1">
                <a:solidFill>
                  <a:srgbClr val="38BDF8"/>
                </a:solidFill>
                <a:latin typeface="Segoe UI"/>
              </a:rPr>
              <a:t>5   </a:t>
            </a:r>
            <a:r>
              <a:rPr sz="1400" b="1">
                <a:solidFill>
                  <a:srgbClr val="E2E8F0"/>
                </a:solidFill>
                <a:latin typeface="Segoe UI"/>
              </a:rPr>
              <a:t>Workflow planning</a:t>
            </a:r>
          </a:p>
          <a:p>
            <a:r>
              <a:rPr sz="1100">
                <a:solidFill>
                  <a:srgbClr val="94A3B8"/>
                </a:solidFill>
                <a:latin typeface="Segoe UI"/>
              </a:rPr>
              <a:t>      order derived by topological sort of agent dependencies</a:t>
            </a:r>
          </a:p>
        </p:txBody>
      </p:sp>
      <p:sp>
        <p:nvSpPr>
          <p:cNvPr id="12" name="Rounded Rectangle 11"/>
          <p:cNvSpPr/>
          <p:nvPr/>
        </p:nvSpPr>
        <p:spPr>
          <a:xfrm>
            <a:off x="6464808" y="1298448"/>
            <a:ext cx="5532120" cy="749808"/>
          </a:xfrm>
          <a:prstGeom prst="roundRect">
            <a:avLst/>
          </a:prstGeom>
          <a:solidFill>
            <a:srgbClr val="1E293B"/>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500" b="1">
                <a:solidFill>
                  <a:srgbClr val="4ADE80"/>
                </a:solidFill>
                <a:latin typeface="Segoe UI"/>
              </a:rPr>
              <a:t>6   </a:t>
            </a:r>
            <a:r>
              <a:rPr sz="1400" b="1">
                <a:solidFill>
                  <a:srgbClr val="E2E8F0"/>
                </a:solidFill>
                <a:latin typeface="Segoe UI"/>
              </a:rPr>
              <a:t>Deterministic scaffolding</a:t>
            </a:r>
          </a:p>
          <a:p>
            <a:r>
              <a:rPr sz="1100">
                <a:solidFill>
                  <a:srgbClr val="94A3B8"/>
                </a:solidFill>
                <a:latin typeface="Segoe UI"/>
              </a:rPr>
              <a:t>      build tooling emitted by code — no model involvement</a:t>
            </a:r>
          </a:p>
        </p:txBody>
      </p:sp>
      <p:sp>
        <p:nvSpPr>
          <p:cNvPr id="13" name="Rounded Rectangle 12"/>
          <p:cNvSpPr/>
          <p:nvPr/>
        </p:nvSpPr>
        <p:spPr>
          <a:xfrm>
            <a:off x="6464808" y="2148840"/>
            <a:ext cx="5532120" cy="749808"/>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500" b="1">
                <a:solidFill>
                  <a:srgbClr val="38BDF8"/>
                </a:solidFill>
                <a:latin typeface="Segoe UI"/>
              </a:rPr>
              <a:t>7   </a:t>
            </a:r>
            <a:r>
              <a:rPr sz="1400" b="1">
                <a:solidFill>
                  <a:srgbClr val="E2E8F0"/>
                </a:solidFill>
                <a:latin typeface="Segoe UI"/>
              </a:rPr>
              <a:t>Dynamic agent execution</a:t>
            </a:r>
          </a:p>
          <a:p>
            <a:r>
              <a:rPr sz="1100">
                <a:solidFill>
                  <a:srgbClr val="94A3B8"/>
                </a:solidFill>
                <a:latin typeface="Segoe UI"/>
              </a:rPr>
              <a:t>      only required agents run, over the shared memory</a:t>
            </a:r>
          </a:p>
        </p:txBody>
      </p:sp>
      <p:sp>
        <p:nvSpPr>
          <p:cNvPr id="14" name="Rounded Rectangle 13"/>
          <p:cNvSpPr/>
          <p:nvPr/>
        </p:nvSpPr>
        <p:spPr>
          <a:xfrm>
            <a:off x="6464808" y="2999232"/>
            <a:ext cx="5532120" cy="749808"/>
          </a:xfrm>
          <a:prstGeom prst="roundRect">
            <a:avLst/>
          </a:prstGeom>
          <a:solidFill>
            <a:srgbClr val="1E293B"/>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500" b="1">
                <a:solidFill>
                  <a:srgbClr val="4ADE80"/>
                </a:solidFill>
                <a:latin typeface="Segoe UI"/>
              </a:rPr>
              <a:t>8   </a:t>
            </a:r>
            <a:r>
              <a:rPr sz="1400" b="1">
                <a:solidFill>
                  <a:srgbClr val="E2E8F0"/>
                </a:solidFill>
                <a:latin typeface="Segoe UI"/>
              </a:rPr>
              <a:t>Two-phase code generation</a:t>
            </a:r>
          </a:p>
          <a:p>
            <a:r>
              <a:rPr sz="1100">
                <a:solidFill>
                  <a:srgbClr val="94A3B8"/>
                </a:solidFill>
                <a:latin typeface="Segoe UI"/>
              </a:rPr>
              <a:t>      file manifest first, then contents in ordered batches</a:t>
            </a:r>
          </a:p>
        </p:txBody>
      </p:sp>
      <p:sp>
        <p:nvSpPr>
          <p:cNvPr id="15" name="Rounded Rectangle 14"/>
          <p:cNvSpPr/>
          <p:nvPr/>
        </p:nvSpPr>
        <p:spPr>
          <a:xfrm>
            <a:off x="6464808" y="3849624"/>
            <a:ext cx="5532120" cy="749808"/>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500" b="1">
                <a:solidFill>
                  <a:srgbClr val="38BDF8"/>
                </a:solidFill>
                <a:latin typeface="Segoe UI"/>
              </a:rPr>
              <a:t>9   </a:t>
            </a:r>
            <a:r>
              <a:rPr sz="1400" b="1">
                <a:solidFill>
                  <a:srgbClr val="E2E8F0"/>
                </a:solidFill>
                <a:latin typeface="Segoe UI"/>
              </a:rPr>
              <a:t>Review &amp; improvement</a:t>
            </a:r>
          </a:p>
          <a:p>
            <a:r>
              <a:rPr sz="1100">
                <a:solidFill>
                  <a:srgbClr val="94A3B8"/>
                </a:solidFill>
                <a:latin typeface="Segoe UI"/>
              </a:rPr>
              <a:t>      file-specific issues found, then applied</a:t>
            </a:r>
          </a:p>
        </p:txBody>
      </p:sp>
      <p:sp>
        <p:nvSpPr>
          <p:cNvPr id="16" name="Rounded Rectangle 15"/>
          <p:cNvSpPr/>
          <p:nvPr/>
        </p:nvSpPr>
        <p:spPr>
          <a:xfrm>
            <a:off x="6464808" y="4700016"/>
            <a:ext cx="5532120" cy="749808"/>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500" b="1">
                <a:solidFill>
                  <a:srgbClr val="38BDF8"/>
                </a:solidFill>
                <a:latin typeface="Segoe UI"/>
              </a:rPr>
              <a:t>10   </a:t>
            </a:r>
            <a:r>
              <a:rPr sz="1400" b="1">
                <a:solidFill>
                  <a:srgbClr val="E2E8F0"/>
                </a:solidFill>
                <a:latin typeface="Segoe UI"/>
              </a:rPr>
              <a:t>Packaging</a:t>
            </a:r>
          </a:p>
          <a:p>
            <a:r>
              <a:rPr sz="1100">
                <a:solidFill>
                  <a:srgbClr val="94A3B8"/>
                </a:solidFill>
                <a:latin typeface="Segoe UI"/>
              </a:rPr>
              <a:t>      documentation, containers, manifest, report, archive</a:t>
            </a:r>
          </a:p>
        </p:txBody>
      </p:sp>
      <p:sp>
        <p:nvSpPr>
          <p:cNvPr id="17" name="Rounded Rectangle 16"/>
          <p:cNvSpPr/>
          <p:nvPr/>
        </p:nvSpPr>
        <p:spPr>
          <a:xfrm>
            <a:off x="566928" y="5577840"/>
            <a:ext cx="11057839" cy="512064"/>
          </a:xfrm>
          <a:prstGeom prst="roundRect">
            <a:avLst/>
          </a:prstGeom>
          <a:solidFill>
            <a:srgbClr val="1E293B"/>
          </a:solidFill>
          <a:ln w="15875">
            <a:solidFill>
              <a:srgbClr val="4ADE80"/>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300" b="0">
                <a:solidFill>
                  <a:srgbClr val="E2E8F0"/>
                </a:solidFill>
                <a:latin typeface="Segoe UI"/>
              </a:rPr>
              <a:t>Steps 6 and 8 are deterministic — the two places where ordinary code, not a language model, guarantees the result.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20624"/>
            <a:ext cx="82296" cy="47548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p>
        </p:txBody>
      </p:sp>
      <p:sp>
        <p:nvSpPr>
          <p:cNvPr id="4" name="TextBox 3"/>
          <p:cNvSpPr txBox="1"/>
          <p:nvPr/>
        </p:nvSpPr>
        <p:spPr>
          <a:xfrm>
            <a:off x="786384" y="384048"/>
            <a:ext cx="9960559" cy="548640"/>
          </a:xfrm>
          <a:prstGeom prst="rect">
            <a:avLst/>
          </a:prstGeom>
          <a:noFill/>
        </p:spPr>
        <p:txBody>
          <a:bodyPr wrap="square" lIns="0" rIns="0" tIns="0" bIns="0">
            <a:spAutoFit/>
          </a:bodyPr>
          <a:lstStyle/>
          <a:p>
            <a:pPr algn="l">
              <a:spcAft>
                <a:spcPts val="0"/>
              </a:spcAft>
            </a:pPr>
            <a:r>
              <a:rPr sz="2900" b="1">
                <a:solidFill>
                  <a:srgbClr val="E2E8F0"/>
                </a:solidFill>
                <a:latin typeface="Segoe UI"/>
              </a:rPr>
              <a:t>System Architecture</a:t>
            </a:r>
          </a:p>
          <a:p>
            <a:pPr algn="l">
              <a:spcAft>
                <a:spcPts val="0"/>
              </a:spcAft>
            </a:pPr>
            <a:r>
              <a:rPr sz="1300" b="0">
                <a:solidFill>
                  <a:srgbClr val="94A3B8"/>
                </a:solidFill>
                <a:latin typeface="Segoe UI"/>
              </a:rPr>
              <a:t>Four bands, strict one-way dependency, one gateway to every model provider</a:t>
            </a:r>
          </a:p>
        </p:txBody>
      </p:sp>
      <p:sp>
        <p:nvSpPr>
          <p:cNvPr id="5" name="TextBox 4"/>
          <p:cNvSpPr txBox="1"/>
          <p:nvPr/>
        </p:nvSpPr>
        <p:spPr>
          <a:xfrm>
            <a:off x="566928" y="6345936"/>
            <a:ext cx="11057839" cy="274320"/>
          </a:xfrm>
          <a:prstGeom prst="rect">
            <a:avLst/>
          </a:prstGeom>
          <a:noFill/>
        </p:spPr>
        <p:txBody>
          <a:bodyPr wrap="square" lIns="0" rIns="0" tIns="0" bIns="0">
            <a:spAutoFit/>
          </a:bodyPr>
          <a:lstStyle/>
          <a:p>
            <a:pPr algn="l">
              <a:spcAft>
                <a:spcPts val="0"/>
              </a:spcAft>
            </a:pPr>
            <a:r>
              <a:rPr sz="1000" b="0">
                <a:solidFill>
                  <a:srgbClr val="94A3B8"/>
                </a:solidFill>
                <a:latin typeface="Segoe UI"/>
              </a:rPr>
              <a:t>AgileAgent  ·  Abstract Seminar  ·  Dept. of CSE, MVSREC (A)</a:t>
            </a:r>
          </a:p>
        </p:txBody>
      </p:sp>
      <p:sp>
        <p:nvSpPr>
          <p:cNvPr id="6" name="TextBox 5"/>
          <p:cNvSpPr txBox="1"/>
          <p:nvPr/>
        </p:nvSpPr>
        <p:spPr>
          <a:xfrm>
            <a:off x="10710367" y="6345936"/>
            <a:ext cx="914400" cy="274320"/>
          </a:xfrm>
          <a:prstGeom prst="rect">
            <a:avLst/>
          </a:prstGeom>
          <a:noFill/>
        </p:spPr>
        <p:txBody>
          <a:bodyPr wrap="square" lIns="0" rIns="0" tIns="0" bIns="0">
            <a:spAutoFit/>
          </a:bodyPr>
          <a:lstStyle/>
          <a:p>
            <a:pPr algn="r">
              <a:spcAft>
                <a:spcPts val="0"/>
              </a:spcAft>
            </a:pPr>
            <a:r>
              <a:rPr sz="1000" b="0">
                <a:solidFill>
                  <a:srgbClr val="94A3B8"/>
                </a:solidFill>
                <a:latin typeface="Segoe UI"/>
              </a:rPr>
              <a:t>9 / 12</a:t>
            </a:r>
          </a:p>
        </p:txBody>
      </p:sp>
      <p:sp>
        <p:nvSpPr>
          <p:cNvPr id="7" name="Rounded Rectangle 6"/>
          <p:cNvSpPr/>
          <p:nvPr/>
        </p:nvSpPr>
        <p:spPr>
          <a:xfrm>
            <a:off x="3809847" y="1225296"/>
            <a:ext cx="4572000" cy="457200"/>
          </a:xfrm>
          <a:prstGeom prst="roundRect">
            <a:avLst/>
          </a:prstGeom>
          <a:solidFill>
            <a:srgbClr val="1E293B"/>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300" b="1">
                <a:solidFill>
                  <a:srgbClr val="E2E8F0"/>
                </a:solidFill>
                <a:latin typeface="Segoe UI"/>
              </a:rPr>
              <a:t>React 18 + TypeScript Web Client</a:t>
            </a:r>
          </a:p>
        </p:txBody>
      </p:sp>
      <p:sp>
        <p:nvSpPr>
          <p:cNvPr id="8" name="Down Arrow 7"/>
          <p:cNvSpPr/>
          <p:nvPr/>
        </p:nvSpPr>
        <p:spPr>
          <a:xfrm>
            <a:off x="5986119" y="1737360"/>
            <a:ext cx="219456" cy="201168"/>
          </a:xfrm>
          <a:prstGeom prst="down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97015" y="1755648"/>
            <a:ext cx="3108960" cy="201168"/>
          </a:xfrm>
          <a:prstGeom prst="rect">
            <a:avLst/>
          </a:prstGeom>
          <a:noFill/>
        </p:spPr>
        <p:txBody>
          <a:bodyPr wrap="square" lIns="0" rIns="0" tIns="0" bIns="0">
            <a:spAutoFit/>
          </a:bodyPr>
          <a:lstStyle/>
          <a:p>
            <a:pPr algn="l">
              <a:spcAft>
                <a:spcPts val="0"/>
              </a:spcAft>
            </a:pPr>
            <a:r>
              <a:rPr sz="1000" b="0">
                <a:solidFill>
                  <a:srgbClr val="38BDF8"/>
                </a:solidFill>
                <a:latin typeface="Segoe UI"/>
              </a:rPr>
              <a:t>REST  +  Server-Sent Events</a:t>
            </a:r>
          </a:p>
        </p:txBody>
      </p:sp>
      <p:sp>
        <p:nvSpPr>
          <p:cNvPr id="10" name="Rounded Rectangle 9"/>
          <p:cNvSpPr/>
          <p:nvPr/>
        </p:nvSpPr>
        <p:spPr>
          <a:xfrm>
            <a:off x="536295" y="2011680"/>
            <a:ext cx="2615184" cy="475488"/>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200" b="1">
                <a:solidFill>
                  <a:srgbClr val="E2E8F0"/>
                </a:solidFill>
                <a:latin typeface="Segoe UI"/>
              </a:rPr>
              <a:t>API Routes</a:t>
            </a:r>
          </a:p>
        </p:txBody>
      </p:sp>
      <p:sp>
        <p:nvSpPr>
          <p:cNvPr id="11" name="Right Arrow 10"/>
          <p:cNvSpPr/>
          <p:nvPr/>
        </p:nvSpPr>
        <p:spPr>
          <a:xfrm>
            <a:off x="3178911" y="2157984"/>
            <a:ext cx="164592" cy="182880"/>
          </a:xfrm>
          <a:prstGeom prst="right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70935" y="2011680"/>
            <a:ext cx="2615184" cy="475488"/>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200" b="1">
                <a:solidFill>
                  <a:srgbClr val="E2E8F0"/>
                </a:solidFill>
                <a:latin typeface="Segoe UI"/>
              </a:rPr>
              <a:t>Services</a:t>
            </a:r>
          </a:p>
        </p:txBody>
      </p:sp>
      <p:sp>
        <p:nvSpPr>
          <p:cNvPr id="13" name="Right Arrow 12"/>
          <p:cNvSpPr/>
          <p:nvPr/>
        </p:nvSpPr>
        <p:spPr>
          <a:xfrm>
            <a:off x="6013551" y="2157984"/>
            <a:ext cx="164592" cy="182880"/>
          </a:xfrm>
          <a:prstGeom prst="right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05575" y="2011680"/>
            <a:ext cx="2615184" cy="475488"/>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200" b="1">
                <a:solidFill>
                  <a:srgbClr val="E2E8F0"/>
                </a:solidFill>
                <a:latin typeface="Segoe UI"/>
              </a:rPr>
              <a:t>Repositories</a:t>
            </a:r>
          </a:p>
        </p:txBody>
      </p:sp>
      <p:sp>
        <p:nvSpPr>
          <p:cNvPr id="15" name="Right Arrow 14"/>
          <p:cNvSpPr/>
          <p:nvPr/>
        </p:nvSpPr>
        <p:spPr>
          <a:xfrm>
            <a:off x="8848191" y="2157984"/>
            <a:ext cx="164592" cy="182880"/>
          </a:xfrm>
          <a:prstGeom prst="right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40215" y="2011680"/>
            <a:ext cx="2615184" cy="475488"/>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200" b="1">
                <a:solidFill>
                  <a:srgbClr val="E2E8F0"/>
                </a:solidFill>
                <a:latin typeface="Segoe UI"/>
              </a:rPr>
              <a:t>PostgreSQL 16</a:t>
            </a:r>
          </a:p>
        </p:txBody>
      </p:sp>
      <p:sp>
        <p:nvSpPr>
          <p:cNvPr id="17" name="TextBox 16"/>
          <p:cNvSpPr txBox="1"/>
          <p:nvPr/>
        </p:nvSpPr>
        <p:spPr>
          <a:xfrm>
            <a:off x="566928" y="2542032"/>
            <a:ext cx="11057839" cy="201168"/>
          </a:xfrm>
          <a:prstGeom prst="rect">
            <a:avLst/>
          </a:prstGeom>
          <a:noFill/>
        </p:spPr>
        <p:txBody>
          <a:bodyPr wrap="square" lIns="0" rIns="0" tIns="0" bIns="0">
            <a:spAutoFit/>
          </a:bodyPr>
          <a:lstStyle/>
          <a:p>
            <a:pPr algn="ctr">
              <a:spcAft>
                <a:spcPts val="0"/>
              </a:spcAft>
            </a:pPr>
            <a:r>
              <a:rPr sz="1000" b="0">
                <a:solidFill>
                  <a:srgbClr val="94A3B8"/>
                </a:solidFill>
                <a:latin typeface="Segoe UI"/>
              </a:rPr>
              <a:t>strict one-way dependency — a service never imports the web framework</a:t>
            </a:r>
          </a:p>
        </p:txBody>
      </p:sp>
      <p:sp>
        <p:nvSpPr>
          <p:cNvPr id="18" name="Rounded Rectangle 17"/>
          <p:cNvSpPr/>
          <p:nvPr/>
        </p:nvSpPr>
        <p:spPr>
          <a:xfrm>
            <a:off x="536295" y="2834640"/>
            <a:ext cx="2615184" cy="658368"/>
          </a:xfrm>
          <a:prstGeom prst="roundRect">
            <a:avLst/>
          </a:prstGeom>
          <a:solidFill>
            <a:srgbClr val="1E293B"/>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200" b="1">
                <a:solidFill>
                  <a:srgbClr val="E2E8F0"/>
                </a:solidFill>
                <a:latin typeface="Segoe UI"/>
              </a:rPr>
              <a:t>Agent Registry</a:t>
            </a:r>
          </a:p>
          <a:p>
            <a:pPr algn="ctr">
              <a:spcAft>
                <a:spcPts val="0"/>
              </a:spcAft>
            </a:pPr>
            <a:r>
              <a:rPr sz="1000" b="0">
                <a:solidFill>
                  <a:srgbClr val="94A3B8"/>
                </a:solidFill>
                <a:latin typeface="Segoe UI"/>
              </a:rPr>
              <a:t>11 specialised agents</a:t>
            </a:r>
          </a:p>
        </p:txBody>
      </p:sp>
      <p:sp>
        <p:nvSpPr>
          <p:cNvPr id="19" name="Rounded Rectangle 18"/>
          <p:cNvSpPr/>
          <p:nvPr/>
        </p:nvSpPr>
        <p:spPr>
          <a:xfrm>
            <a:off x="3370935" y="2834640"/>
            <a:ext cx="2615184" cy="658368"/>
          </a:xfrm>
          <a:prstGeom prst="roundRect">
            <a:avLst/>
          </a:prstGeom>
          <a:solidFill>
            <a:srgbClr val="1E293B"/>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200" b="1">
                <a:solidFill>
                  <a:srgbClr val="E2E8F0"/>
                </a:solidFill>
                <a:latin typeface="Segoe UI"/>
              </a:rPr>
              <a:t>Workflow Engine</a:t>
            </a:r>
          </a:p>
          <a:p>
            <a:pPr algn="ctr">
              <a:spcAft>
                <a:spcPts val="0"/>
              </a:spcAft>
            </a:pPr>
            <a:r>
              <a:rPr sz="1000" b="0">
                <a:solidFill>
                  <a:srgbClr val="94A3B8"/>
                </a:solidFill>
                <a:latin typeface="Segoe UI"/>
              </a:rPr>
              <a:t>planner · executor · events</a:t>
            </a:r>
          </a:p>
        </p:txBody>
      </p:sp>
      <p:sp>
        <p:nvSpPr>
          <p:cNvPr id="20" name="Rounded Rectangle 19"/>
          <p:cNvSpPr/>
          <p:nvPr/>
        </p:nvSpPr>
        <p:spPr>
          <a:xfrm>
            <a:off x="6205575" y="2834640"/>
            <a:ext cx="2615184" cy="658368"/>
          </a:xfrm>
          <a:prstGeom prst="roundRect">
            <a:avLst/>
          </a:prstGeom>
          <a:solidFill>
            <a:srgbClr val="1E293B"/>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200" b="1">
                <a:solidFill>
                  <a:srgbClr val="E2E8F0"/>
                </a:solidFill>
                <a:latin typeface="Segoe UI"/>
              </a:rPr>
              <a:t>Adapter Registry</a:t>
            </a:r>
          </a:p>
          <a:p>
            <a:pPr algn="ctr">
              <a:spcAft>
                <a:spcPts val="0"/>
              </a:spcAft>
            </a:pPr>
            <a:r>
              <a:rPr sz="1000" b="0">
                <a:solidFill>
                  <a:srgbClr val="94A3B8"/>
                </a:solidFill>
                <a:latin typeface="Segoe UI"/>
              </a:rPr>
              <a:t>9 technology plugins</a:t>
            </a:r>
          </a:p>
        </p:txBody>
      </p:sp>
      <p:sp>
        <p:nvSpPr>
          <p:cNvPr id="21" name="Rounded Rectangle 20"/>
          <p:cNvSpPr/>
          <p:nvPr/>
        </p:nvSpPr>
        <p:spPr>
          <a:xfrm>
            <a:off x="9040215" y="2834640"/>
            <a:ext cx="2615184" cy="658368"/>
          </a:xfrm>
          <a:prstGeom prst="roundRect">
            <a:avLst/>
          </a:prstGeom>
          <a:solidFill>
            <a:srgbClr val="1E293B"/>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200" b="1">
                <a:solidFill>
                  <a:srgbClr val="E2E8F0"/>
                </a:solidFill>
                <a:latin typeface="Segoe UI"/>
              </a:rPr>
              <a:t>Packaging</a:t>
            </a:r>
          </a:p>
          <a:p>
            <a:pPr algn="ctr">
              <a:spcAft>
                <a:spcPts val="0"/>
              </a:spcAft>
            </a:pPr>
            <a:r>
              <a:rPr sz="1000" b="0">
                <a:solidFill>
                  <a:srgbClr val="94A3B8"/>
                </a:solidFill>
                <a:latin typeface="Segoe UI"/>
              </a:rPr>
              <a:t>workspace · archive · report</a:t>
            </a:r>
          </a:p>
        </p:txBody>
      </p:sp>
      <p:sp>
        <p:nvSpPr>
          <p:cNvPr id="22" name="Rounded Rectangle 21"/>
          <p:cNvSpPr/>
          <p:nvPr/>
        </p:nvSpPr>
        <p:spPr>
          <a:xfrm>
            <a:off x="536295" y="3602736"/>
            <a:ext cx="11119104" cy="420624"/>
          </a:xfrm>
          <a:prstGeom prst="round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200" b="1">
                <a:solidFill>
                  <a:srgbClr val="E2E8F0"/>
                </a:solidFill>
                <a:latin typeface="Segoe UI"/>
              </a:rPr>
              <a:t>Shared Project Memory  —  one typed state read and written by every agent</a:t>
            </a:r>
          </a:p>
        </p:txBody>
      </p:sp>
      <p:sp>
        <p:nvSpPr>
          <p:cNvPr id="23" name="Down Arrow 22"/>
          <p:cNvSpPr/>
          <p:nvPr/>
        </p:nvSpPr>
        <p:spPr>
          <a:xfrm>
            <a:off x="5986119" y="4114800"/>
            <a:ext cx="219456" cy="182880"/>
          </a:xfrm>
          <a:prstGeom prst="downArrow">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36295" y="4370832"/>
            <a:ext cx="11119104" cy="585216"/>
          </a:xfrm>
          <a:prstGeom prst="roundRect">
            <a:avLst/>
          </a:prstGeom>
          <a:solidFill>
            <a:srgbClr val="1E293B"/>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300" b="1">
                <a:solidFill>
                  <a:srgbClr val="E2E8F0"/>
                </a:solidFill>
                <a:latin typeface="Segoe UI"/>
              </a:rPr>
              <a:t>Provider Manager</a:t>
            </a:r>
          </a:p>
          <a:p>
            <a:pPr algn="ctr">
              <a:spcAft>
                <a:spcPts val="0"/>
              </a:spcAft>
            </a:pPr>
            <a:r>
              <a:rPr sz="1100" b="0">
                <a:solidFill>
                  <a:srgbClr val="94A3B8"/>
                </a:solidFill>
                <a:latin typeface="Segoe UI"/>
              </a:rPr>
              <a:t>Cache  →  Route  →  Retry  →  Fail over  →  Record</a:t>
            </a:r>
          </a:p>
        </p:txBody>
      </p:sp>
      <p:sp>
        <p:nvSpPr>
          <p:cNvPr id="25" name="Rounded Rectangle 24"/>
          <p:cNvSpPr/>
          <p:nvPr/>
        </p:nvSpPr>
        <p:spPr>
          <a:xfrm>
            <a:off x="582015" y="5120640"/>
            <a:ext cx="1700784" cy="420624"/>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100" b="1">
                <a:solidFill>
                  <a:srgbClr val="E2E8F0"/>
                </a:solidFill>
                <a:latin typeface="Segoe UI"/>
              </a:rPr>
              <a:t>Gemini</a:t>
            </a:r>
          </a:p>
        </p:txBody>
      </p:sp>
      <p:sp>
        <p:nvSpPr>
          <p:cNvPr id="26" name="Rounded Rectangle 25"/>
          <p:cNvSpPr/>
          <p:nvPr/>
        </p:nvSpPr>
        <p:spPr>
          <a:xfrm>
            <a:off x="2447391" y="5120640"/>
            <a:ext cx="1700784" cy="420624"/>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100" b="1">
                <a:solidFill>
                  <a:srgbClr val="E2E8F0"/>
                </a:solidFill>
                <a:latin typeface="Segoe UI"/>
              </a:rPr>
              <a:t>Groq</a:t>
            </a:r>
          </a:p>
        </p:txBody>
      </p:sp>
      <p:sp>
        <p:nvSpPr>
          <p:cNvPr id="27" name="Rounded Rectangle 26"/>
          <p:cNvSpPr/>
          <p:nvPr/>
        </p:nvSpPr>
        <p:spPr>
          <a:xfrm>
            <a:off x="4312767" y="5120640"/>
            <a:ext cx="1700784" cy="420624"/>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100" b="1">
                <a:solidFill>
                  <a:srgbClr val="E2E8F0"/>
                </a:solidFill>
                <a:latin typeface="Segoe UI"/>
              </a:rPr>
              <a:t>NVIDIA NIM</a:t>
            </a:r>
          </a:p>
        </p:txBody>
      </p:sp>
      <p:sp>
        <p:nvSpPr>
          <p:cNvPr id="28" name="Rounded Rectangle 27"/>
          <p:cNvSpPr/>
          <p:nvPr/>
        </p:nvSpPr>
        <p:spPr>
          <a:xfrm>
            <a:off x="6178143" y="5120640"/>
            <a:ext cx="1700784" cy="420624"/>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100" b="1">
                <a:solidFill>
                  <a:srgbClr val="E2E8F0"/>
                </a:solidFill>
                <a:latin typeface="Segoe UI"/>
              </a:rPr>
              <a:t>Ollama</a:t>
            </a:r>
          </a:p>
        </p:txBody>
      </p:sp>
      <p:sp>
        <p:nvSpPr>
          <p:cNvPr id="29" name="Rounded Rectangle 28"/>
          <p:cNvSpPr/>
          <p:nvPr/>
        </p:nvSpPr>
        <p:spPr>
          <a:xfrm>
            <a:off x="8043519" y="5120640"/>
            <a:ext cx="1700784" cy="420624"/>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100" b="1">
                <a:solidFill>
                  <a:srgbClr val="E2E8F0"/>
                </a:solidFill>
                <a:latin typeface="Segoe UI"/>
              </a:rPr>
              <a:t>OpenAI</a:t>
            </a:r>
          </a:p>
        </p:txBody>
      </p:sp>
      <p:sp>
        <p:nvSpPr>
          <p:cNvPr id="30" name="Rounded Rectangle 29"/>
          <p:cNvSpPr/>
          <p:nvPr/>
        </p:nvSpPr>
        <p:spPr>
          <a:xfrm>
            <a:off x="9908895" y="5120640"/>
            <a:ext cx="1700784" cy="420624"/>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100" b="1">
                <a:solidFill>
                  <a:srgbClr val="E2E8F0"/>
                </a:solidFill>
                <a:latin typeface="Segoe UI"/>
              </a:rPr>
              <a:t>Anthropic</a:t>
            </a:r>
          </a:p>
        </p:txBody>
      </p:sp>
      <p:sp>
        <p:nvSpPr>
          <p:cNvPr id="31" name="Rounded Rectangle 30"/>
          <p:cNvSpPr/>
          <p:nvPr/>
        </p:nvSpPr>
        <p:spPr>
          <a:xfrm>
            <a:off x="566928" y="5705856"/>
            <a:ext cx="11057839" cy="457200"/>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200" b="0">
                <a:solidFill>
                  <a:srgbClr val="E2E8F0"/>
                </a:solidFill>
                <a:latin typeface="Segoe UI"/>
              </a:rPr>
              <a:t>No agent addresses a provider directly — every model call passes through one manager, which is what makes failover automatic.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20624"/>
            <a:ext cx="82296" cy="47548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p>
        </p:txBody>
      </p:sp>
      <p:sp>
        <p:nvSpPr>
          <p:cNvPr id="4" name="TextBox 3"/>
          <p:cNvSpPr txBox="1"/>
          <p:nvPr/>
        </p:nvSpPr>
        <p:spPr>
          <a:xfrm>
            <a:off x="786384" y="384048"/>
            <a:ext cx="9960559" cy="548640"/>
          </a:xfrm>
          <a:prstGeom prst="rect">
            <a:avLst/>
          </a:prstGeom>
          <a:noFill/>
        </p:spPr>
        <p:txBody>
          <a:bodyPr wrap="square" lIns="0" rIns="0" tIns="0" bIns="0">
            <a:spAutoFit/>
          </a:bodyPr>
          <a:lstStyle/>
          <a:p>
            <a:pPr algn="l">
              <a:spcAft>
                <a:spcPts val="0"/>
              </a:spcAft>
            </a:pPr>
            <a:r>
              <a:rPr sz="2900" b="1">
                <a:solidFill>
                  <a:srgbClr val="E2E8F0"/>
                </a:solidFill>
                <a:latin typeface="Segoe UI"/>
              </a:rPr>
              <a:t>Technologies &amp; Requirements</a:t>
            </a:r>
          </a:p>
        </p:txBody>
      </p:sp>
      <p:sp>
        <p:nvSpPr>
          <p:cNvPr id="5" name="TextBox 4"/>
          <p:cNvSpPr txBox="1"/>
          <p:nvPr/>
        </p:nvSpPr>
        <p:spPr>
          <a:xfrm>
            <a:off x="566928" y="6345936"/>
            <a:ext cx="11057839" cy="274320"/>
          </a:xfrm>
          <a:prstGeom prst="rect">
            <a:avLst/>
          </a:prstGeom>
          <a:noFill/>
        </p:spPr>
        <p:txBody>
          <a:bodyPr wrap="square" lIns="0" rIns="0" tIns="0" bIns="0">
            <a:spAutoFit/>
          </a:bodyPr>
          <a:lstStyle/>
          <a:p>
            <a:pPr algn="l">
              <a:spcAft>
                <a:spcPts val="0"/>
              </a:spcAft>
            </a:pPr>
            <a:r>
              <a:rPr sz="1000" b="0">
                <a:solidFill>
                  <a:srgbClr val="94A3B8"/>
                </a:solidFill>
                <a:latin typeface="Segoe UI"/>
              </a:rPr>
              <a:t>AgileAgent  ·  Abstract Seminar  ·  Dept. of CSE, MVSREC (A)</a:t>
            </a:r>
          </a:p>
        </p:txBody>
      </p:sp>
      <p:sp>
        <p:nvSpPr>
          <p:cNvPr id="6" name="TextBox 5"/>
          <p:cNvSpPr txBox="1"/>
          <p:nvPr/>
        </p:nvSpPr>
        <p:spPr>
          <a:xfrm>
            <a:off x="10710367" y="6345936"/>
            <a:ext cx="914400" cy="274320"/>
          </a:xfrm>
          <a:prstGeom prst="rect">
            <a:avLst/>
          </a:prstGeom>
          <a:noFill/>
        </p:spPr>
        <p:txBody>
          <a:bodyPr wrap="square" lIns="0" rIns="0" tIns="0" bIns="0">
            <a:spAutoFit/>
          </a:bodyPr>
          <a:lstStyle/>
          <a:p>
            <a:pPr algn="r">
              <a:spcAft>
                <a:spcPts val="0"/>
              </a:spcAft>
            </a:pPr>
            <a:r>
              <a:rPr sz="1000" b="0">
                <a:solidFill>
                  <a:srgbClr val="94A3B8"/>
                </a:solidFill>
                <a:latin typeface="Segoe UI"/>
              </a:rPr>
              <a:t>10 / 12</a:t>
            </a:r>
          </a:p>
        </p:txBody>
      </p:sp>
      <p:sp>
        <p:nvSpPr>
          <p:cNvPr id="7" name="Rounded Rectangle 6"/>
          <p:cNvSpPr/>
          <p:nvPr/>
        </p:nvSpPr>
        <p:spPr>
          <a:xfrm>
            <a:off x="566928" y="1298448"/>
            <a:ext cx="3538728" cy="155448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100584" bIns="36576"/>
          <a:lstStyle/>
          <a:p>
            <a:pPr algn="l">
              <a:spcAft>
                <a:spcPts val="500"/>
              </a:spcAft>
            </a:pPr>
            <a:r>
              <a:rPr sz="1100" b="1">
                <a:solidFill>
                  <a:srgbClr val="38BDF8"/>
                </a:solidFill>
                <a:latin typeface="Segoe UI"/>
              </a:rPr>
              <a:t>BACKEND</a:t>
            </a:r>
          </a:p>
          <a:p>
            <a:pPr algn="l">
              <a:spcAft>
                <a:spcPts val="100"/>
              </a:spcAft>
            </a:pPr>
            <a:r>
              <a:rPr sz="1200" b="0">
                <a:solidFill>
                  <a:srgbClr val="E2E8F0"/>
                </a:solidFill>
                <a:latin typeface="Segoe UI"/>
              </a:rPr>
              <a:t>·  Python 3.11+, FastAPI</a:t>
            </a:r>
          </a:p>
          <a:p>
            <a:pPr algn="l">
              <a:spcAft>
                <a:spcPts val="100"/>
              </a:spcAft>
            </a:pPr>
            <a:r>
              <a:rPr sz="1200" b="0">
                <a:solidFill>
                  <a:srgbClr val="E2E8F0"/>
                </a:solidFill>
                <a:latin typeface="Segoe UI"/>
              </a:rPr>
              <a:t>·  SQLAlchemy 2.0 (async)</a:t>
            </a:r>
          </a:p>
          <a:p>
            <a:pPr algn="l">
              <a:spcAft>
                <a:spcPts val="100"/>
              </a:spcAft>
            </a:pPr>
            <a:r>
              <a:rPr sz="1200" b="0">
                <a:solidFill>
                  <a:srgbClr val="E2E8F0"/>
                </a:solidFill>
                <a:latin typeface="Segoe UI"/>
              </a:rPr>
              <a:t>·  Pydantic v2, Alembic</a:t>
            </a:r>
          </a:p>
          <a:p>
            <a:pPr algn="l">
              <a:spcAft>
                <a:spcPts val="100"/>
              </a:spcAft>
            </a:pPr>
            <a:r>
              <a:rPr sz="1200" b="0">
                <a:solidFill>
                  <a:srgbClr val="E2E8F0"/>
                </a:solidFill>
                <a:latin typeface="Segoe UI"/>
              </a:rPr>
              <a:t>·  JWT auth, httpx, pytest</a:t>
            </a:r>
          </a:p>
        </p:txBody>
      </p:sp>
      <p:sp>
        <p:nvSpPr>
          <p:cNvPr id="8" name="Rounded Rectangle 7"/>
          <p:cNvSpPr/>
          <p:nvPr/>
        </p:nvSpPr>
        <p:spPr>
          <a:xfrm>
            <a:off x="4343400" y="1298448"/>
            <a:ext cx="3538728" cy="155448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100584" bIns="36576"/>
          <a:lstStyle/>
          <a:p>
            <a:pPr algn="l">
              <a:spcAft>
                <a:spcPts val="500"/>
              </a:spcAft>
            </a:pPr>
            <a:r>
              <a:rPr sz="1100" b="1">
                <a:solidFill>
                  <a:srgbClr val="38BDF8"/>
                </a:solidFill>
                <a:latin typeface="Segoe UI"/>
              </a:rPr>
              <a:t>FRONTEND</a:t>
            </a:r>
          </a:p>
          <a:p>
            <a:pPr algn="l">
              <a:spcAft>
                <a:spcPts val="100"/>
              </a:spcAft>
            </a:pPr>
            <a:r>
              <a:rPr sz="1200" b="0">
                <a:solidFill>
                  <a:srgbClr val="E2E8F0"/>
                </a:solidFill>
                <a:latin typeface="Segoe UI"/>
              </a:rPr>
              <a:t>·  React 18, TypeScript (strict)</a:t>
            </a:r>
          </a:p>
          <a:p>
            <a:pPr algn="l">
              <a:spcAft>
                <a:spcPts val="100"/>
              </a:spcAft>
            </a:pPr>
            <a:r>
              <a:rPr sz="1200" b="0">
                <a:solidFill>
                  <a:srgbClr val="E2E8F0"/>
                </a:solidFill>
                <a:latin typeface="Segoe UI"/>
              </a:rPr>
              <a:t>·  Vite, Tailwind CSS</a:t>
            </a:r>
          </a:p>
          <a:p>
            <a:pPr algn="l">
              <a:spcAft>
                <a:spcPts val="100"/>
              </a:spcAft>
            </a:pPr>
            <a:r>
              <a:rPr sz="1200" b="0">
                <a:solidFill>
                  <a:srgbClr val="E2E8F0"/>
                </a:solidFill>
                <a:latin typeface="Segoe UI"/>
              </a:rPr>
              <a:t>·  SSE over fetch / ReadableStream</a:t>
            </a:r>
          </a:p>
          <a:p>
            <a:pPr algn="l">
              <a:spcAft>
                <a:spcPts val="100"/>
              </a:spcAft>
            </a:pPr>
            <a:r>
              <a:rPr sz="1200" b="0">
                <a:solidFill>
                  <a:srgbClr val="E2E8F0"/>
                </a:solidFill>
                <a:latin typeface="Segoe UI"/>
              </a:rPr>
              <a:t>·  Vitest</a:t>
            </a:r>
          </a:p>
        </p:txBody>
      </p:sp>
      <p:sp>
        <p:nvSpPr>
          <p:cNvPr id="9" name="Rounded Rectangle 8"/>
          <p:cNvSpPr/>
          <p:nvPr/>
        </p:nvSpPr>
        <p:spPr>
          <a:xfrm>
            <a:off x="8119872" y="1298448"/>
            <a:ext cx="3538728" cy="155448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100584" bIns="36576"/>
          <a:lstStyle/>
          <a:p>
            <a:pPr algn="l">
              <a:spcAft>
                <a:spcPts val="500"/>
              </a:spcAft>
            </a:pPr>
            <a:r>
              <a:rPr sz="1100" b="1">
                <a:solidFill>
                  <a:srgbClr val="38BDF8"/>
                </a:solidFill>
                <a:latin typeface="Segoe UI"/>
              </a:rPr>
              <a:t>DATA &amp; INFRASTRUCTURE</a:t>
            </a:r>
          </a:p>
          <a:p>
            <a:pPr algn="l">
              <a:spcAft>
                <a:spcPts val="100"/>
              </a:spcAft>
            </a:pPr>
            <a:r>
              <a:rPr sz="1200" b="0">
                <a:solidFill>
                  <a:srgbClr val="E2E8F0"/>
                </a:solidFill>
                <a:latin typeface="Segoe UI"/>
              </a:rPr>
              <a:t>·  PostgreSQL 16 (SQLite in dev)</a:t>
            </a:r>
          </a:p>
          <a:p>
            <a:pPr algn="l">
              <a:spcAft>
                <a:spcPts val="100"/>
              </a:spcAft>
            </a:pPr>
            <a:r>
              <a:rPr sz="1200" b="0">
                <a:solidFill>
                  <a:srgbClr val="E2E8F0"/>
                </a:solidFill>
                <a:latin typeface="Segoe UI"/>
              </a:rPr>
              <a:t>·  Docker, Docker Compose</a:t>
            </a:r>
          </a:p>
          <a:p>
            <a:pPr algn="l">
              <a:spcAft>
                <a:spcPts val="100"/>
              </a:spcAft>
            </a:pPr>
            <a:r>
              <a:rPr sz="1200" b="0">
                <a:solidFill>
                  <a:srgbClr val="E2E8F0"/>
                </a:solidFill>
                <a:latin typeface="Segoe UI"/>
              </a:rPr>
              <a:t>·  Non-root containers</a:t>
            </a:r>
          </a:p>
          <a:p>
            <a:pPr algn="l">
              <a:spcAft>
                <a:spcPts val="100"/>
              </a:spcAft>
            </a:pPr>
            <a:r>
              <a:rPr sz="1200" b="0">
                <a:solidFill>
                  <a:srgbClr val="E2E8F0"/>
                </a:solidFill>
                <a:latin typeface="Segoe UI"/>
              </a:rPr>
              <a:t>·  8 GB development machine</a:t>
            </a:r>
          </a:p>
        </p:txBody>
      </p:sp>
      <p:sp>
        <p:nvSpPr>
          <p:cNvPr id="10" name="Rounded Rectangle 9"/>
          <p:cNvSpPr/>
          <p:nvPr/>
        </p:nvSpPr>
        <p:spPr>
          <a:xfrm>
            <a:off x="566928" y="2999232"/>
            <a:ext cx="3538728" cy="155448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100584" bIns="36576"/>
          <a:lstStyle/>
          <a:p>
            <a:pPr algn="l">
              <a:spcAft>
                <a:spcPts val="500"/>
              </a:spcAft>
            </a:pPr>
            <a:r>
              <a:rPr sz="1100" b="1">
                <a:solidFill>
                  <a:srgbClr val="38BDF8"/>
                </a:solidFill>
                <a:latin typeface="Segoe UI"/>
              </a:rPr>
              <a:t>MODEL PROVIDERS</a:t>
            </a:r>
          </a:p>
          <a:p>
            <a:pPr algn="l">
              <a:spcAft>
                <a:spcPts val="100"/>
              </a:spcAft>
            </a:pPr>
            <a:r>
              <a:rPr sz="1200" b="0">
                <a:solidFill>
                  <a:srgbClr val="E2E8F0"/>
                </a:solidFill>
                <a:latin typeface="Segoe UI"/>
              </a:rPr>
              <a:t>·  Google Gemini, Groq</a:t>
            </a:r>
          </a:p>
          <a:p>
            <a:pPr algn="l">
              <a:spcAft>
                <a:spcPts val="100"/>
              </a:spcAft>
            </a:pPr>
            <a:r>
              <a:rPr sz="1200" b="0">
                <a:solidFill>
                  <a:srgbClr val="E2E8F0"/>
                </a:solidFill>
                <a:latin typeface="Segoe UI"/>
              </a:rPr>
              <a:t>·  NVIDIA NIM, Ollama (local)</a:t>
            </a:r>
          </a:p>
          <a:p>
            <a:pPr algn="l">
              <a:spcAft>
                <a:spcPts val="100"/>
              </a:spcAft>
            </a:pPr>
            <a:r>
              <a:rPr sz="1200" b="0">
                <a:solidFill>
                  <a:srgbClr val="E2E8F0"/>
                </a:solidFill>
                <a:latin typeface="Segoe UI"/>
              </a:rPr>
              <a:t>·  OpenAI, Anthropic</a:t>
            </a:r>
          </a:p>
          <a:p>
            <a:pPr algn="l">
              <a:spcAft>
                <a:spcPts val="100"/>
              </a:spcAft>
            </a:pPr>
            <a:r>
              <a:rPr sz="1200" b="0">
                <a:solidFill>
                  <a:srgbClr val="E2E8F0"/>
                </a:solidFill>
                <a:latin typeface="Segoe UI"/>
              </a:rPr>
              <a:t>·  One provider-agnostic interface</a:t>
            </a:r>
          </a:p>
        </p:txBody>
      </p:sp>
      <p:sp>
        <p:nvSpPr>
          <p:cNvPr id="11" name="Rounded Rectangle 10"/>
          <p:cNvSpPr/>
          <p:nvPr/>
        </p:nvSpPr>
        <p:spPr>
          <a:xfrm>
            <a:off x="4343400" y="2999232"/>
            <a:ext cx="3538728" cy="155448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100584" bIns="36576"/>
          <a:lstStyle/>
          <a:p>
            <a:pPr algn="l">
              <a:spcAft>
                <a:spcPts val="500"/>
              </a:spcAft>
            </a:pPr>
            <a:r>
              <a:rPr sz="1100" b="1">
                <a:solidFill>
                  <a:srgbClr val="38BDF8"/>
                </a:solidFill>
                <a:latin typeface="Segoe UI"/>
              </a:rPr>
              <a:t>STACKS THE PLATFORM GENERATES</a:t>
            </a:r>
          </a:p>
          <a:p>
            <a:pPr algn="l">
              <a:spcAft>
                <a:spcPts val="100"/>
              </a:spcAft>
            </a:pPr>
            <a:r>
              <a:rPr sz="1200" b="0">
                <a:solidFill>
                  <a:srgbClr val="E2E8F0"/>
                </a:solidFill>
                <a:latin typeface="Segoe UI"/>
              </a:rPr>
              <a:t>·  React 18 · Next.js 15 · Angular 18</a:t>
            </a:r>
          </a:p>
          <a:p>
            <a:pPr algn="l">
              <a:spcAft>
                <a:spcPts val="100"/>
              </a:spcAft>
            </a:pPr>
            <a:r>
              <a:rPr sz="1200" b="0">
                <a:solidFill>
                  <a:srgbClr val="E2E8F0"/>
                </a:solidFill>
                <a:latin typeface="Segoe UI"/>
              </a:rPr>
              <a:t>·  FastAPI · Express.js · Spring Boot 3.4</a:t>
            </a:r>
          </a:p>
          <a:p>
            <a:pPr algn="l">
              <a:spcAft>
                <a:spcPts val="100"/>
              </a:spcAft>
            </a:pPr>
            <a:r>
              <a:rPr sz="1200" b="0">
                <a:solidFill>
                  <a:srgbClr val="E2E8F0"/>
                </a:solidFill>
                <a:latin typeface="Segoe UI"/>
              </a:rPr>
              <a:t>·  PostgreSQL 16 · MySQL 8.4 · SQLite 3</a:t>
            </a:r>
          </a:p>
        </p:txBody>
      </p:sp>
      <p:sp>
        <p:nvSpPr>
          <p:cNvPr id="12" name="Rounded Rectangle 11"/>
          <p:cNvSpPr/>
          <p:nvPr/>
        </p:nvSpPr>
        <p:spPr>
          <a:xfrm>
            <a:off x="8119872" y="2999232"/>
            <a:ext cx="3538728" cy="155448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100584" bIns="36576"/>
          <a:lstStyle/>
          <a:p>
            <a:pPr algn="l">
              <a:spcAft>
                <a:spcPts val="500"/>
              </a:spcAft>
            </a:pPr>
            <a:r>
              <a:rPr sz="1100" b="1">
                <a:solidFill>
                  <a:srgbClr val="38BDF8"/>
                </a:solidFill>
                <a:latin typeface="Segoe UI"/>
              </a:rPr>
              <a:t>EXTERNAL REQUIREMENTS</a:t>
            </a:r>
          </a:p>
          <a:p>
            <a:pPr algn="l">
              <a:spcAft>
                <a:spcPts val="100"/>
              </a:spcAft>
            </a:pPr>
            <a:r>
              <a:rPr sz="1200" b="0">
                <a:solidFill>
                  <a:srgbClr val="E2E8F0"/>
                </a:solidFill>
                <a:latin typeface="Segoe UI"/>
              </a:rPr>
              <a:t>·  Hosted provider API keys, or</a:t>
            </a:r>
          </a:p>
          <a:p>
            <a:pPr algn="l">
              <a:spcAft>
                <a:spcPts val="100"/>
              </a:spcAft>
            </a:pPr>
            <a:r>
              <a:rPr sz="1200" b="0">
                <a:solidFill>
                  <a:srgbClr val="E2E8F0"/>
                </a:solidFill>
                <a:latin typeface="Segoe UI"/>
              </a:rPr>
              <a:t>·  a local GPU for offline inference</a:t>
            </a:r>
          </a:p>
          <a:p>
            <a:pPr algn="l">
              <a:spcAft>
                <a:spcPts val="100"/>
              </a:spcAft>
            </a:pPr>
            <a:r>
              <a:rPr sz="1200" b="0">
                <a:solidFill>
                  <a:srgbClr val="E2E8F0"/>
                </a:solidFill>
                <a:latin typeface="Segoe UI"/>
              </a:rPr>
              <a:t>·  Internet access for hosted models</a:t>
            </a:r>
          </a:p>
        </p:txBody>
      </p:sp>
      <p:sp>
        <p:nvSpPr>
          <p:cNvPr id="13" name="Rounded Rectangle 12"/>
          <p:cNvSpPr/>
          <p:nvPr/>
        </p:nvSpPr>
        <p:spPr>
          <a:xfrm>
            <a:off x="566928" y="4828032"/>
            <a:ext cx="11057839" cy="1335024"/>
          </a:xfrm>
          <a:prstGeom prst="roundRect">
            <a:avLst/>
          </a:prstGeom>
          <a:solidFill>
            <a:srgbClr val="172133"/>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400"/>
              </a:spcAft>
            </a:pPr>
            <a:r>
              <a:rPr sz="1200" b="1">
                <a:solidFill>
                  <a:srgbClr val="38BDF8"/>
                </a:solidFill>
                <a:latin typeface="Segoe UI"/>
              </a:rPr>
              <a:t>DATASET &amp; EVALUATION</a:t>
            </a:r>
          </a:p>
          <a:p>
            <a:pPr algn="l">
              <a:spcAft>
                <a:spcPts val="400"/>
              </a:spcAft>
            </a:pPr>
            <a:r>
              <a:rPr sz="1300" b="0">
                <a:solidFill>
                  <a:srgbClr val="E2E8F0"/>
                </a:solidFill>
                <a:latin typeface="Segoe UI"/>
              </a:rPr>
              <a:t>AgileAgent trains no model — it orchestrates pre-trained language models, so there is no dataset, no preprocessing stage and no train/test split.</a:t>
            </a:r>
          </a:p>
          <a:p>
            <a:pPr algn="l">
              <a:spcAft>
                <a:spcPts val="0"/>
              </a:spcAft>
            </a:pPr>
            <a:r>
              <a:rPr sz="1200" b="0">
                <a:solidFill>
                  <a:srgbClr val="94A3B8"/>
                </a:solidFill>
                <a:latin typeface="Segoe UI"/>
              </a:rPr>
              <a:t>Evaluation is system-level:  artifact completeness  ·  structural validity of generated code  ·  build success rate  ·  per-agent success rate  ·  failover recovery rate  ·  generation latency  ·  token cost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20624"/>
            <a:ext cx="82296" cy="47548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p>
        </p:txBody>
      </p:sp>
      <p:sp>
        <p:nvSpPr>
          <p:cNvPr id="4" name="TextBox 3"/>
          <p:cNvSpPr txBox="1"/>
          <p:nvPr/>
        </p:nvSpPr>
        <p:spPr>
          <a:xfrm>
            <a:off x="786384" y="384048"/>
            <a:ext cx="9960559" cy="548640"/>
          </a:xfrm>
          <a:prstGeom prst="rect">
            <a:avLst/>
          </a:prstGeom>
          <a:noFill/>
        </p:spPr>
        <p:txBody>
          <a:bodyPr wrap="square" lIns="0" rIns="0" tIns="0" bIns="0">
            <a:spAutoFit/>
          </a:bodyPr>
          <a:lstStyle/>
          <a:p>
            <a:pPr algn="l">
              <a:spcAft>
                <a:spcPts val="0"/>
              </a:spcAft>
            </a:pPr>
            <a:r>
              <a:rPr sz="2900" b="1">
                <a:solidFill>
                  <a:srgbClr val="E2E8F0"/>
                </a:solidFill>
                <a:latin typeface="Segoe UI"/>
              </a:rPr>
              <a:t>Expected Outcomes &amp; Applications</a:t>
            </a:r>
          </a:p>
        </p:txBody>
      </p:sp>
      <p:sp>
        <p:nvSpPr>
          <p:cNvPr id="5" name="TextBox 4"/>
          <p:cNvSpPr txBox="1"/>
          <p:nvPr/>
        </p:nvSpPr>
        <p:spPr>
          <a:xfrm>
            <a:off x="566928" y="6345936"/>
            <a:ext cx="11057839" cy="274320"/>
          </a:xfrm>
          <a:prstGeom prst="rect">
            <a:avLst/>
          </a:prstGeom>
          <a:noFill/>
        </p:spPr>
        <p:txBody>
          <a:bodyPr wrap="square" lIns="0" rIns="0" tIns="0" bIns="0">
            <a:spAutoFit/>
          </a:bodyPr>
          <a:lstStyle/>
          <a:p>
            <a:pPr algn="l">
              <a:spcAft>
                <a:spcPts val="0"/>
              </a:spcAft>
            </a:pPr>
            <a:r>
              <a:rPr sz="1000" b="0">
                <a:solidFill>
                  <a:srgbClr val="94A3B8"/>
                </a:solidFill>
                <a:latin typeface="Segoe UI"/>
              </a:rPr>
              <a:t>AgileAgent  ·  Abstract Seminar  ·  Dept. of CSE, MVSREC (A)</a:t>
            </a:r>
          </a:p>
        </p:txBody>
      </p:sp>
      <p:sp>
        <p:nvSpPr>
          <p:cNvPr id="6" name="TextBox 5"/>
          <p:cNvSpPr txBox="1"/>
          <p:nvPr/>
        </p:nvSpPr>
        <p:spPr>
          <a:xfrm>
            <a:off x="10710367" y="6345936"/>
            <a:ext cx="914400" cy="274320"/>
          </a:xfrm>
          <a:prstGeom prst="rect">
            <a:avLst/>
          </a:prstGeom>
          <a:noFill/>
        </p:spPr>
        <p:txBody>
          <a:bodyPr wrap="square" lIns="0" rIns="0" tIns="0" bIns="0">
            <a:spAutoFit/>
          </a:bodyPr>
          <a:lstStyle/>
          <a:p>
            <a:pPr algn="r">
              <a:spcAft>
                <a:spcPts val="0"/>
              </a:spcAft>
            </a:pPr>
            <a:r>
              <a:rPr sz="1000" b="0">
                <a:solidFill>
                  <a:srgbClr val="94A3B8"/>
                </a:solidFill>
                <a:latin typeface="Segoe UI"/>
              </a:rPr>
              <a:t>11 / 12</a:t>
            </a:r>
          </a:p>
        </p:txBody>
      </p:sp>
      <p:sp>
        <p:nvSpPr>
          <p:cNvPr id="7" name="TextBox 6"/>
          <p:cNvSpPr txBox="1"/>
          <p:nvPr/>
        </p:nvSpPr>
        <p:spPr>
          <a:xfrm>
            <a:off x="566928" y="1298448"/>
            <a:ext cx="6309360" cy="274320"/>
          </a:xfrm>
          <a:prstGeom prst="rect">
            <a:avLst/>
          </a:prstGeom>
          <a:noFill/>
        </p:spPr>
        <p:txBody>
          <a:bodyPr wrap="square" lIns="0" rIns="0" tIns="0" bIns="0">
            <a:spAutoFit/>
          </a:bodyPr>
          <a:lstStyle/>
          <a:p>
            <a:pPr algn="l">
              <a:spcAft>
                <a:spcPts val="0"/>
              </a:spcAft>
            </a:pPr>
            <a:r>
              <a:rPr sz="1200" b="1">
                <a:solidFill>
                  <a:srgbClr val="38BDF8"/>
                </a:solidFill>
                <a:latin typeface="Segoe UI"/>
              </a:rPr>
              <a:t>EXPECTED OUTCOMES</a:t>
            </a:r>
          </a:p>
        </p:txBody>
      </p:sp>
      <p:sp>
        <p:nvSpPr>
          <p:cNvPr id="8" name="Rounded Rectangle 7"/>
          <p:cNvSpPr/>
          <p:nvPr/>
        </p:nvSpPr>
        <p:spPr>
          <a:xfrm>
            <a:off x="566928" y="1682496"/>
            <a:ext cx="6309360" cy="603504"/>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300" b="1">
                <a:solidFill>
                  <a:srgbClr val="4ADE80"/>
                </a:solidFill>
                <a:latin typeface="Segoe UI"/>
              </a:rPr>
              <a:t>✓   </a:t>
            </a:r>
            <a:r>
              <a:rPr sz="1200">
                <a:solidFill>
                  <a:srgbClr val="E2E8F0"/>
                </a:solidFill>
                <a:latin typeface="Segoe UI"/>
              </a:rPr>
              <a:t>A complete starter project: requirements, architecture, schema with executable DDL, API specification</a:t>
            </a:r>
          </a:p>
        </p:txBody>
      </p:sp>
      <p:sp>
        <p:nvSpPr>
          <p:cNvPr id="9" name="Rounded Rectangle 8"/>
          <p:cNvSpPr/>
          <p:nvPr/>
        </p:nvSpPr>
        <p:spPr>
          <a:xfrm>
            <a:off x="566928" y="2377440"/>
            <a:ext cx="6309360" cy="603504"/>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300" b="1">
                <a:solidFill>
                  <a:srgbClr val="4ADE80"/>
                </a:solidFill>
                <a:latin typeface="Segoe UI"/>
              </a:rPr>
              <a:t>✓   </a:t>
            </a:r>
            <a:r>
              <a:rPr sz="1200">
                <a:solidFill>
                  <a:srgbClr val="E2E8F0"/>
                </a:solidFill>
                <a:latin typeface="Segoe UI"/>
              </a:rPr>
              <a:t>Frontend and backend source, unit tests, documentation and container definitions</a:t>
            </a:r>
          </a:p>
        </p:txBody>
      </p:sp>
      <p:sp>
        <p:nvSpPr>
          <p:cNvPr id="10" name="Rounded Rectangle 9"/>
          <p:cNvSpPr/>
          <p:nvPr/>
        </p:nvSpPr>
        <p:spPr>
          <a:xfrm>
            <a:off x="566928" y="3072384"/>
            <a:ext cx="6309360" cy="603504"/>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300" b="1">
                <a:solidFill>
                  <a:srgbClr val="4ADE80"/>
                </a:solidFill>
                <a:latin typeface="Segoe UI"/>
              </a:rPr>
              <a:t>✓   </a:t>
            </a:r>
            <a:r>
              <a:rPr sz="1200">
                <a:solidFill>
                  <a:srgbClr val="E2E8F0"/>
                </a:solidFill>
                <a:latin typeface="Segoe UI"/>
              </a:rPr>
              <a:t>Runs that survive a provider failing mid-generation by continuing on another</a:t>
            </a:r>
          </a:p>
        </p:txBody>
      </p:sp>
      <p:sp>
        <p:nvSpPr>
          <p:cNvPr id="11" name="Rounded Rectangle 10"/>
          <p:cNvSpPr/>
          <p:nvPr/>
        </p:nvSpPr>
        <p:spPr>
          <a:xfrm>
            <a:off x="566928" y="3767328"/>
            <a:ext cx="6309360" cy="603504"/>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300" b="1">
                <a:solidFill>
                  <a:srgbClr val="4ADE80"/>
                </a:solidFill>
                <a:latin typeface="Segoe UI"/>
              </a:rPr>
              <a:t>✓   </a:t>
            </a:r>
            <a:r>
              <a:rPr sz="1200">
                <a:solidFill>
                  <a:srgbClr val="E2E8F0"/>
                </a:solidFill>
                <a:latin typeface="Segoe UI"/>
              </a:rPr>
              <a:t>Every skipped agent reported with the reason it was not required</a:t>
            </a:r>
          </a:p>
        </p:txBody>
      </p:sp>
      <p:sp>
        <p:nvSpPr>
          <p:cNvPr id="12" name="Rounded Rectangle 11"/>
          <p:cNvSpPr/>
          <p:nvPr/>
        </p:nvSpPr>
        <p:spPr>
          <a:xfrm>
            <a:off x="566928" y="4462272"/>
            <a:ext cx="6309360" cy="603504"/>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r>
              <a:rPr sz="1300" b="1">
                <a:solidFill>
                  <a:srgbClr val="4ADE80"/>
                </a:solidFill>
                <a:latin typeface="Segoe UI"/>
              </a:rPr>
              <a:t>✓   </a:t>
            </a:r>
            <a:r>
              <a:rPr sz="1200">
                <a:solidFill>
                  <a:srgbClr val="E2E8F0"/>
                </a:solidFill>
                <a:latin typeface="Segoe UI"/>
              </a:rPr>
              <a:t>A downloadable archive plus an auditable AI Engineering Report</a:t>
            </a:r>
          </a:p>
        </p:txBody>
      </p:sp>
      <p:sp>
        <p:nvSpPr>
          <p:cNvPr id="13" name="TextBox 12"/>
          <p:cNvSpPr txBox="1"/>
          <p:nvPr/>
        </p:nvSpPr>
        <p:spPr>
          <a:xfrm>
            <a:off x="7196328" y="1298448"/>
            <a:ext cx="4428439" cy="274320"/>
          </a:xfrm>
          <a:prstGeom prst="rect">
            <a:avLst/>
          </a:prstGeom>
          <a:noFill/>
        </p:spPr>
        <p:txBody>
          <a:bodyPr wrap="square" lIns="0" rIns="0" tIns="0" bIns="0">
            <a:spAutoFit/>
          </a:bodyPr>
          <a:lstStyle/>
          <a:p>
            <a:pPr algn="l">
              <a:spcAft>
                <a:spcPts val="0"/>
              </a:spcAft>
            </a:pPr>
            <a:r>
              <a:rPr sz="1200" b="1">
                <a:solidFill>
                  <a:srgbClr val="38BDF8"/>
                </a:solidFill>
                <a:latin typeface="Segoe UI"/>
              </a:rPr>
              <a:t>APPLICATIONS</a:t>
            </a:r>
          </a:p>
        </p:txBody>
      </p:sp>
      <p:sp>
        <p:nvSpPr>
          <p:cNvPr id="14" name="Rounded Rectangle 13"/>
          <p:cNvSpPr/>
          <p:nvPr/>
        </p:nvSpPr>
        <p:spPr>
          <a:xfrm>
            <a:off x="7196328" y="1682496"/>
            <a:ext cx="2131923" cy="603504"/>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100" b="0">
                <a:solidFill>
                  <a:srgbClr val="E2E8F0"/>
                </a:solidFill>
                <a:latin typeface="Segoe UI"/>
              </a:rPr>
              <a:t>Startup prototyping</a:t>
            </a:r>
          </a:p>
        </p:txBody>
      </p:sp>
      <p:sp>
        <p:nvSpPr>
          <p:cNvPr id="15" name="Rounded Rectangle 14"/>
          <p:cNvSpPr/>
          <p:nvPr/>
        </p:nvSpPr>
        <p:spPr>
          <a:xfrm>
            <a:off x="9492843" y="1682496"/>
            <a:ext cx="2131923" cy="603504"/>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100" b="0">
                <a:solidFill>
                  <a:srgbClr val="E2E8F0"/>
                </a:solidFill>
                <a:latin typeface="Segoe UI"/>
              </a:rPr>
              <a:t>Academic project bootstrapping</a:t>
            </a:r>
          </a:p>
        </p:txBody>
      </p:sp>
      <p:sp>
        <p:nvSpPr>
          <p:cNvPr id="16" name="Rounded Rectangle 15"/>
          <p:cNvSpPr/>
          <p:nvPr/>
        </p:nvSpPr>
        <p:spPr>
          <a:xfrm>
            <a:off x="7196328" y="2377440"/>
            <a:ext cx="2131923" cy="603504"/>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100" b="0">
                <a:solidFill>
                  <a:srgbClr val="E2E8F0"/>
                </a:solidFill>
                <a:latin typeface="Segoe UI"/>
              </a:rPr>
              <a:t>Developer onboarding</a:t>
            </a:r>
          </a:p>
        </p:txBody>
      </p:sp>
      <p:sp>
        <p:nvSpPr>
          <p:cNvPr id="17" name="Rounded Rectangle 16"/>
          <p:cNvSpPr/>
          <p:nvPr/>
        </p:nvSpPr>
        <p:spPr>
          <a:xfrm>
            <a:off x="9492843" y="2377440"/>
            <a:ext cx="2131923" cy="603504"/>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100" b="0">
                <a:solidFill>
                  <a:srgbClr val="E2E8F0"/>
                </a:solidFill>
                <a:latin typeface="Segoe UI"/>
              </a:rPr>
              <a:t>Reference architectures</a:t>
            </a:r>
          </a:p>
        </p:txBody>
      </p:sp>
      <p:sp>
        <p:nvSpPr>
          <p:cNvPr id="18" name="Rounded Rectangle 17"/>
          <p:cNvSpPr/>
          <p:nvPr/>
        </p:nvSpPr>
        <p:spPr>
          <a:xfrm>
            <a:off x="7196328" y="3072384"/>
            <a:ext cx="2131923" cy="603504"/>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100" b="0">
                <a:solidFill>
                  <a:srgbClr val="E2E8F0"/>
                </a:solidFill>
                <a:latin typeface="Segoe UI"/>
              </a:rPr>
              <a:t>Hackathon scaffolding</a:t>
            </a:r>
          </a:p>
        </p:txBody>
      </p:sp>
      <p:sp>
        <p:nvSpPr>
          <p:cNvPr id="19" name="Rounded Rectangle 18"/>
          <p:cNvSpPr/>
          <p:nvPr/>
        </p:nvSpPr>
        <p:spPr>
          <a:xfrm>
            <a:off x="9492843" y="3072384"/>
            <a:ext cx="2131923" cy="603504"/>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100" b="0">
                <a:solidFill>
                  <a:srgbClr val="E2E8F0"/>
                </a:solidFill>
                <a:latin typeface="Segoe UI"/>
              </a:rPr>
              <a:t>Teaching the SDLC</a:t>
            </a:r>
          </a:p>
        </p:txBody>
      </p:sp>
      <p:sp>
        <p:nvSpPr>
          <p:cNvPr id="20" name="Rounded Rectangle 19"/>
          <p:cNvSpPr/>
          <p:nvPr/>
        </p:nvSpPr>
        <p:spPr>
          <a:xfrm>
            <a:off x="566928" y="5504688"/>
            <a:ext cx="11057839" cy="658368"/>
          </a:xfrm>
          <a:prstGeom prst="round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0"/>
              </a:spcAft>
            </a:pPr>
            <a:r>
              <a:rPr sz="1400" b="1">
                <a:solidFill>
                  <a:srgbClr val="E2E8F0"/>
                </a:solidFill>
                <a:latin typeface="Segoe UI"/>
              </a:rPr>
              <a:t>Significance: AI moves from a snippet-level assistant to an accountable engineering team.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20624"/>
            <a:ext cx="82296" cy="475488"/>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p>
        </p:txBody>
      </p:sp>
      <p:sp>
        <p:nvSpPr>
          <p:cNvPr id="4" name="TextBox 3"/>
          <p:cNvSpPr txBox="1"/>
          <p:nvPr/>
        </p:nvSpPr>
        <p:spPr>
          <a:xfrm>
            <a:off x="786384" y="384048"/>
            <a:ext cx="9960559" cy="548640"/>
          </a:xfrm>
          <a:prstGeom prst="rect">
            <a:avLst/>
          </a:prstGeom>
          <a:noFill/>
        </p:spPr>
        <p:txBody>
          <a:bodyPr wrap="square" lIns="0" rIns="0" tIns="0" bIns="0">
            <a:spAutoFit/>
          </a:bodyPr>
          <a:lstStyle/>
          <a:p>
            <a:pPr algn="l">
              <a:spcAft>
                <a:spcPts val="0"/>
              </a:spcAft>
            </a:pPr>
            <a:r>
              <a:rPr sz="2900" b="1">
                <a:solidFill>
                  <a:srgbClr val="E2E8F0"/>
                </a:solidFill>
                <a:latin typeface="Segoe UI"/>
              </a:rPr>
              <a:t>Work Plan &amp; References</a:t>
            </a:r>
          </a:p>
        </p:txBody>
      </p:sp>
      <p:sp>
        <p:nvSpPr>
          <p:cNvPr id="5" name="TextBox 4"/>
          <p:cNvSpPr txBox="1"/>
          <p:nvPr/>
        </p:nvSpPr>
        <p:spPr>
          <a:xfrm>
            <a:off x="566928" y="6345936"/>
            <a:ext cx="11057839" cy="274320"/>
          </a:xfrm>
          <a:prstGeom prst="rect">
            <a:avLst/>
          </a:prstGeom>
          <a:noFill/>
        </p:spPr>
        <p:txBody>
          <a:bodyPr wrap="square" lIns="0" rIns="0" tIns="0" bIns="0">
            <a:spAutoFit/>
          </a:bodyPr>
          <a:lstStyle/>
          <a:p>
            <a:pPr algn="l">
              <a:spcAft>
                <a:spcPts val="0"/>
              </a:spcAft>
            </a:pPr>
            <a:r>
              <a:rPr sz="1000" b="0">
                <a:solidFill>
                  <a:srgbClr val="94A3B8"/>
                </a:solidFill>
                <a:latin typeface="Segoe UI"/>
              </a:rPr>
              <a:t>AgileAgent  ·  Abstract Seminar  ·  Dept. of CSE, MVSREC (A)</a:t>
            </a:r>
          </a:p>
        </p:txBody>
      </p:sp>
      <p:sp>
        <p:nvSpPr>
          <p:cNvPr id="6" name="TextBox 5"/>
          <p:cNvSpPr txBox="1"/>
          <p:nvPr/>
        </p:nvSpPr>
        <p:spPr>
          <a:xfrm>
            <a:off x="10710367" y="6345936"/>
            <a:ext cx="914400" cy="274320"/>
          </a:xfrm>
          <a:prstGeom prst="rect">
            <a:avLst/>
          </a:prstGeom>
          <a:noFill/>
        </p:spPr>
        <p:txBody>
          <a:bodyPr wrap="square" lIns="0" rIns="0" tIns="0" bIns="0">
            <a:spAutoFit/>
          </a:bodyPr>
          <a:lstStyle/>
          <a:p>
            <a:pPr algn="r">
              <a:spcAft>
                <a:spcPts val="0"/>
              </a:spcAft>
            </a:pPr>
            <a:r>
              <a:rPr sz="1000" b="0">
                <a:solidFill>
                  <a:srgbClr val="94A3B8"/>
                </a:solidFill>
                <a:latin typeface="Segoe UI"/>
              </a:rPr>
              <a:t>12 / 12</a:t>
            </a:r>
          </a:p>
        </p:txBody>
      </p:sp>
      <p:sp>
        <p:nvSpPr>
          <p:cNvPr id="7" name="Rounded Rectangle 6"/>
          <p:cNvSpPr/>
          <p:nvPr/>
        </p:nvSpPr>
        <p:spPr>
          <a:xfrm>
            <a:off x="566928" y="1298448"/>
            <a:ext cx="1469963" cy="1170432"/>
          </a:xfrm>
          <a:prstGeom prst="roundRect">
            <a:avLst/>
          </a:prstGeom>
          <a:solidFill>
            <a:srgbClr val="1E293B"/>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73152" bIns="36576"/>
          <a:lstStyle/>
          <a:p>
            <a:pPr algn="ctr">
              <a:spcAft>
                <a:spcPts val="200"/>
              </a:spcAft>
            </a:pPr>
            <a:r>
              <a:rPr sz="1300" b="1">
                <a:solidFill>
                  <a:srgbClr val="38BDF8"/>
                </a:solidFill>
                <a:latin typeface="Segoe UI"/>
              </a:rPr>
              <a:t>Phase 1</a:t>
            </a:r>
          </a:p>
          <a:p>
            <a:pPr algn="ctr">
              <a:spcAft>
                <a:spcPts val="400"/>
              </a:spcAft>
            </a:pPr>
            <a:r>
              <a:rPr sz="1000" b="0">
                <a:solidFill>
                  <a:srgbClr val="E2E8F0"/>
                </a:solidFill>
                <a:latin typeface="Segoe UI"/>
              </a:rPr>
              <a:t>Aug – Sep 2026</a:t>
            </a:r>
          </a:p>
          <a:p>
            <a:pPr algn="ctr">
              <a:spcAft>
                <a:spcPts val="0"/>
              </a:spcAft>
            </a:pPr>
            <a:r>
              <a:rPr sz="900" b="0">
                <a:solidFill>
                  <a:srgbClr val="94A3B8"/>
                </a:solidFill>
                <a:latin typeface="Segoe UI"/>
              </a:rPr>
              <a:t>Literature survey, requirement analysis, architecture design</a:t>
            </a:r>
          </a:p>
        </p:txBody>
      </p:sp>
      <p:sp>
        <p:nvSpPr>
          <p:cNvPr id="8" name="Rounded Rectangle 7"/>
          <p:cNvSpPr/>
          <p:nvPr/>
        </p:nvSpPr>
        <p:spPr>
          <a:xfrm>
            <a:off x="2164907" y="1298448"/>
            <a:ext cx="1469963" cy="1170432"/>
          </a:xfrm>
          <a:prstGeom prst="roundRect">
            <a:avLst/>
          </a:prstGeom>
          <a:solidFill>
            <a:srgbClr val="1E293B"/>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73152" bIns="36576"/>
          <a:lstStyle/>
          <a:p>
            <a:pPr algn="ctr">
              <a:spcAft>
                <a:spcPts val="200"/>
              </a:spcAft>
            </a:pPr>
            <a:r>
              <a:rPr sz="1300" b="1">
                <a:solidFill>
                  <a:srgbClr val="38BDF8"/>
                </a:solidFill>
                <a:latin typeface="Segoe UI"/>
              </a:rPr>
              <a:t>Phase 2</a:t>
            </a:r>
          </a:p>
          <a:p>
            <a:pPr algn="ctr">
              <a:spcAft>
                <a:spcPts val="400"/>
              </a:spcAft>
            </a:pPr>
            <a:r>
              <a:rPr sz="1000" b="0">
                <a:solidFill>
                  <a:srgbClr val="E2E8F0"/>
                </a:solidFill>
                <a:latin typeface="Segoe UI"/>
              </a:rPr>
              <a:t>Oct 2026</a:t>
            </a:r>
          </a:p>
          <a:p>
            <a:pPr algn="ctr">
              <a:spcAft>
                <a:spcPts val="0"/>
              </a:spcAft>
            </a:pPr>
            <a:r>
              <a:rPr sz="900" b="0">
                <a:solidFill>
                  <a:srgbClr val="94A3B8"/>
                </a:solidFill>
                <a:latin typeface="Segoe UI"/>
              </a:rPr>
              <a:t>Core platform: API layer, authentication, database schema</a:t>
            </a:r>
          </a:p>
        </p:txBody>
      </p:sp>
      <p:sp>
        <p:nvSpPr>
          <p:cNvPr id="9" name="Rounded Rectangle 8"/>
          <p:cNvSpPr/>
          <p:nvPr/>
        </p:nvSpPr>
        <p:spPr>
          <a:xfrm>
            <a:off x="3762886" y="1298448"/>
            <a:ext cx="1469963" cy="1170432"/>
          </a:xfrm>
          <a:prstGeom prst="roundRect">
            <a:avLst/>
          </a:prstGeom>
          <a:solidFill>
            <a:srgbClr val="1E293B"/>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73152" bIns="36576"/>
          <a:lstStyle/>
          <a:p>
            <a:pPr algn="ctr">
              <a:spcAft>
                <a:spcPts val="200"/>
              </a:spcAft>
            </a:pPr>
            <a:r>
              <a:rPr sz="1300" b="1">
                <a:solidFill>
                  <a:srgbClr val="38BDF8"/>
                </a:solidFill>
                <a:latin typeface="Segoe UI"/>
              </a:rPr>
              <a:t>Phase 3</a:t>
            </a:r>
          </a:p>
          <a:p>
            <a:pPr algn="ctr">
              <a:spcAft>
                <a:spcPts val="400"/>
              </a:spcAft>
            </a:pPr>
            <a:r>
              <a:rPr sz="1000" b="0">
                <a:solidFill>
                  <a:srgbClr val="E2E8F0"/>
                </a:solidFill>
                <a:latin typeface="Segoe UI"/>
              </a:rPr>
              <a:t>Nov 2026</a:t>
            </a:r>
          </a:p>
          <a:p>
            <a:pPr algn="ctr">
              <a:spcAft>
                <a:spcPts val="0"/>
              </a:spcAft>
            </a:pPr>
            <a:r>
              <a:rPr sz="900" b="0">
                <a:solidFill>
                  <a:srgbClr val="94A3B8"/>
                </a:solidFill>
                <a:latin typeface="Segoe UI"/>
              </a:rPr>
              <a:t>Agents, shared project memory, workflow engine</a:t>
            </a:r>
          </a:p>
        </p:txBody>
      </p:sp>
      <p:sp>
        <p:nvSpPr>
          <p:cNvPr id="10" name="Rounded Rectangle 9"/>
          <p:cNvSpPr/>
          <p:nvPr/>
        </p:nvSpPr>
        <p:spPr>
          <a:xfrm>
            <a:off x="5360865" y="1298448"/>
            <a:ext cx="1469963" cy="1170432"/>
          </a:xfrm>
          <a:prstGeom prst="roundRect">
            <a:avLst/>
          </a:prstGeom>
          <a:solidFill>
            <a:srgbClr val="1E293B"/>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73152" bIns="36576"/>
          <a:lstStyle/>
          <a:p>
            <a:pPr algn="ctr">
              <a:spcAft>
                <a:spcPts val="200"/>
              </a:spcAft>
            </a:pPr>
            <a:r>
              <a:rPr sz="1300" b="1">
                <a:solidFill>
                  <a:srgbClr val="38BDF8"/>
                </a:solidFill>
                <a:latin typeface="Segoe UI"/>
              </a:rPr>
              <a:t>Phase 4</a:t>
            </a:r>
          </a:p>
          <a:p>
            <a:pPr algn="ctr">
              <a:spcAft>
                <a:spcPts val="400"/>
              </a:spcAft>
            </a:pPr>
            <a:r>
              <a:rPr sz="1000" b="0">
                <a:solidFill>
                  <a:srgbClr val="E2E8F0"/>
                </a:solidFill>
                <a:latin typeface="Segoe UI"/>
              </a:rPr>
              <a:t>Dec 26 – Jan 27</a:t>
            </a:r>
          </a:p>
          <a:p>
            <a:pPr algn="ctr">
              <a:spcAft>
                <a:spcPts val="0"/>
              </a:spcAft>
            </a:pPr>
            <a:r>
              <a:rPr sz="900" b="0">
                <a:solidFill>
                  <a:srgbClr val="94A3B8"/>
                </a:solidFill>
                <a:latin typeface="Segoe UI"/>
              </a:rPr>
              <a:t>LLM orchestration: routing, failover, caching; adapters</a:t>
            </a:r>
          </a:p>
        </p:txBody>
      </p:sp>
      <p:sp>
        <p:nvSpPr>
          <p:cNvPr id="11" name="Rounded Rectangle 10"/>
          <p:cNvSpPr/>
          <p:nvPr/>
        </p:nvSpPr>
        <p:spPr>
          <a:xfrm>
            <a:off x="6958845" y="1298448"/>
            <a:ext cx="1469963" cy="1170432"/>
          </a:xfrm>
          <a:prstGeom prst="roundRect">
            <a:avLst/>
          </a:prstGeom>
          <a:solidFill>
            <a:srgbClr val="1E293B"/>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73152" bIns="36576"/>
          <a:lstStyle/>
          <a:p>
            <a:pPr algn="ctr">
              <a:spcAft>
                <a:spcPts val="200"/>
              </a:spcAft>
            </a:pPr>
            <a:r>
              <a:rPr sz="1300" b="1">
                <a:solidFill>
                  <a:srgbClr val="38BDF8"/>
                </a:solidFill>
                <a:latin typeface="Segoe UI"/>
              </a:rPr>
              <a:t>Phase 5</a:t>
            </a:r>
          </a:p>
          <a:p>
            <a:pPr algn="ctr">
              <a:spcAft>
                <a:spcPts val="400"/>
              </a:spcAft>
            </a:pPr>
            <a:r>
              <a:rPr sz="1000" b="0">
                <a:solidFill>
                  <a:srgbClr val="E2E8F0"/>
                </a:solidFill>
                <a:latin typeface="Segoe UI"/>
              </a:rPr>
              <a:t>Feb 2027</a:t>
            </a:r>
          </a:p>
          <a:p>
            <a:pPr algn="ctr">
              <a:spcAft>
                <a:spcPts val="0"/>
              </a:spcAft>
            </a:pPr>
            <a:r>
              <a:rPr sz="900" b="0">
                <a:solidFill>
                  <a:srgbClr val="94A3B8"/>
                </a:solidFill>
                <a:latin typeface="Segoe UI"/>
              </a:rPr>
              <a:t>Web client, live event streaming, dashboards</a:t>
            </a:r>
          </a:p>
        </p:txBody>
      </p:sp>
      <p:sp>
        <p:nvSpPr>
          <p:cNvPr id="12" name="Rounded Rectangle 11"/>
          <p:cNvSpPr/>
          <p:nvPr/>
        </p:nvSpPr>
        <p:spPr>
          <a:xfrm>
            <a:off x="8556824" y="1298448"/>
            <a:ext cx="1469963" cy="1170432"/>
          </a:xfrm>
          <a:prstGeom prst="roundRect">
            <a:avLst/>
          </a:prstGeom>
          <a:solidFill>
            <a:srgbClr val="1E293B"/>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73152" bIns="36576"/>
          <a:lstStyle/>
          <a:p>
            <a:pPr algn="ctr">
              <a:spcAft>
                <a:spcPts val="200"/>
              </a:spcAft>
            </a:pPr>
            <a:r>
              <a:rPr sz="1300" b="1">
                <a:solidFill>
                  <a:srgbClr val="38BDF8"/>
                </a:solidFill>
                <a:latin typeface="Segoe UI"/>
              </a:rPr>
              <a:t>Phase 6</a:t>
            </a:r>
          </a:p>
          <a:p>
            <a:pPr algn="ctr">
              <a:spcAft>
                <a:spcPts val="400"/>
              </a:spcAft>
            </a:pPr>
            <a:r>
              <a:rPr sz="1000" b="0">
                <a:solidFill>
                  <a:srgbClr val="E2E8F0"/>
                </a:solidFill>
                <a:latin typeface="Segoe UI"/>
              </a:rPr>
              <a:t>Mar 2027</a:t>
            </a:r>
          </a:p>
          <a:p>
            <a:pPr algn="ctr">
              <a:spcAft>
                <a:spcPts val="0"/>
              </a:spcAft>
            </a:pPr>
            <a:r>
              <a:rPr sz="900" b="0">
                <a:solidFill>
                  <a:srgbClr val="94A3B8"/>
                </a:solidFill>
                <a:latin typeface="Segoe UI"/>
              </a:rPr>
              <a:t>Packaging, testing, evaluation against metrics</a:t>
            </a:r>
          </a:p>
        </p:txBody>
      </p:sp>
      <p:sp>
        <p:nvSpPr>
          <p:cNvPr id="13" name="Rounded Rectangle 12"/>
          <p:cNvSpPr/>
          <p:nvPr/>
        </p:nvSpPr>
        <p:spPr>
          <a:xfrm>
            <a:off x="10154803" y="1298448"/>
            <a:ext cx="1469963" cy="1170432"/>
          </a:xfrm>
          <a:prstGeom prst="roundRect">
            <a:avLst/>
          </a:prstGeom>
          <a:solidFill>
            <a:srgbClr val="1E293B"/>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t" wrap="square" lIns="82296" rIns="82296" tIns="73152" bIns="36576"/>
          <a:lstStyle/>
          <a:p>
            <a:pPr algn="ctr">
              <a:spcAft>
                <a:spcPts val="200"/>
              </a:spcAft>
            </a:pPr>
            <a:r>
              <a:rPr sz="1300" b="1">
                <a:solidFill>
                  <a:srgbClr val="38BDF8"/>
                </a:solidFill>
                <a:latin typeface="Segoe UI"/>
              </a:rPr>
              <a:t>Phase 7</a:t>
            </a:r>
          </a:p>
          <a:p>
            <a:pPr algn="ctr">
              <a:spcAft>
                <a:spcPts val="400"/>
              </a:spcAft>
            </a:pPr>
            <a:r>
              <a:rPr sz="1000" b="0">
                <a:solidFill>
                  <a:srgbClr val="E2E8F0"/>
                </a:solidFill>
                <a:latin typeface="Segoe UI"/>
              </a:rPr>
              <a:t>Apr 2027</a:t>
            </a:r>
          </a:p>
          <a:p>
            <a:pPr algn="ctr">
              <a:spcAft>
                <a:spcPts val="0"/>
              </a:spcAft>
            </a:pPr>
            <a:r>
              <a:rPr sz="900" b="0">
                <a:solidFill>
                  <a:srgbClr val="94A3B8"/>
                </a:solidFill>
                <a:latin typeface="Segoe UI"/>
              </a:rPr>
              <a:t>Documentation, final report, demonstration</a:t>
            </a:r>
          </a:p>
        </p:txBody>
      </p:sp>
      <p:sp>
        <p:nvSpPr>
          <p:cNvPr id="14" name="TextBox 13"/>
          <p:cNvSpPr txBox="1"/>
          <p:nvPr/>
        </p:nvSpPr>
        <p:spPr>
          <a:xfrm>
            <a:off x="566928" y="2670048"/>
            <a:ext cx="11057839" cy="237744"/>
          </a:xfrm>
          <a:prstGeom prst="rect">
            <a:avLst/>
          </a:prstGeom>
          <a:noFill/>
        </p:spPr>
        <p:txBody>
          <a:bodyPr wrap="square" lIns="0" rIns="0" tIns="0" bIns="0">
            <a:spAutoFit/>
          </a:bodyPr>
          <a:lstStyle/>
          <a:p>
            <a:pPr algn="l">
              <a:spcAft>
                <a:spcPts val="0"/>
              </a:spcAft>
            </a:pPr>
            <a:r>
              <a:rPr sz="1100" b="1">
                <a:solidFill>
                  <a:srgbClr val="38BDF8"/>
                </a:solidFill>
                <a:latin typeface="Segoe UI"/>
              </a:rPr>
              <a:t>TEAM RESPONSIBILITIES</a:t>
            </a:r>
          </a:p>
        </p:txBody>
      </p:sp>
      <p:sp>
        <p:nvSpPr>
          <p:cNvPr id="15" name="Rounded Rectangle 14"/>
          <p:cNvSpPr/>
          <p:nvPr/>
        </p:nvSpPr>
        <p:spPr>
          <a:xfrm>
            <a:off x="566928" y="2962656"/>
            <a:ext cx="3539642" cy="859536"/>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100"/>
              </a:spcAft>
            </a:pPr>
            <a:r>
              <a:rPr sz="1200" b="1">
                <a:solidFill>
                  <a:srgbClr val="E2E8F0"/>
                </a:solidFill>
                <a:latin typeface="Segoe UI"/>
              </a:rPr>
              <a:t>Mohammed Abdul Akif Ahmed</a:t>
            </a:r>
          </a:p>
          <a:p>
            <a:pPr algn="ctr">
              <a:spcAft>
                <a:spcPts val="300"/>
              </a:spcAft>
            </a:pPr>
            <a:r>
              <a:rPr sz="900" b="0">
                <a:solidFill>
                  <a:srgbClr val="94A3B8"/>
                </a:solidFill>
                <a:latin typeface="Segoe UI"/>
              </a:rPr>
              <a:t>245123733173</a:t>
            </a:r>
          </a:p>
          <a:p>
            <a:pPr algn="ctr">
              <a:spcAft>
                <a:spcPts val="0"/>
              </a:spcAft>
            </a:pPr>
            <a:r>
              <a:rPr sz="1000" b="0">
                <a:solidFill>
                  <a:srgbClr val="38BDF8"/>
                </a:solidFill>
                <a:latin typeface="Segoe UI"/>
              </a:rPr>
              <a:t>LLM orchestration · provider integration · backend core</a:t>
            </a:r>
          </a:p>
        </p:txBody>
      </p:sp>
      <p:sp>
        <p:nvSpPr>
          <p:cNvPr id="16" name="Rounded Rectangle 15"/>
          <p:cNvSpPr/>
          <p:nvPr/>
        </p:nvSpPr>
        <p:spPr>
          <a:xfrm>
            <a:off x="4326026" y="2962656"/>
            <a:ext cx="3539642" cy="859536"/>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100"/>
              </a:spcAft>
            </a:pPr>
            <a:r>
              <a:rPr sz="1200" b="1">
                <a:solidFill>
                  <a:srgbClr val="E2E8F0"/>
                </a:solidFill>
                <a:latin typeface="Segoe UI"/>
              </a:rPr>
              <a:t>Mohammed Aslam Uddin</a:t>
            </a:r>
          </a:p>
          <a:p>
            <a:pPr algn="ctr">
              <a:spcAft>
                <a:spcPts val="300"/>
              </a:spcAft>
            </a:pPr>
            <a:r>
              <a:rPr sz="900" b="0">
                <a:solidFill>
                  <a:srgbClr val="94A3B8"/>
                </a:solidFill>
                <a:latin typeface="Segoe UI"/>
              </a:rPr>
              <a:t>245123733182</a:t>
            </a:r>
          </a:p>
          <a:p>
            <a:pPr algn="ctr">
              <a:spcAft>
                <a:spcPts val="0"/>
              </a:spcAft>
            </a:pPr>
            <a:r>
              <a:rPr sz="1000" b="0">
                <a:solidFill>
                  <a:srgbClr val="38BDF8"/>
                </a:solidFill>
                <a:latin typeface="Segoe UI"/>
              </a:rPr>
              <a:t>Agent implementation · workflow engine · shared memory</a:t>
            </a:r>
          </a:p>
        </p:txBody>
      </p:sp>
      <p:sp>
        <p:nvSpPr>
          <p:cNvPr id="17" name="Rounded Rectangle 16"/>
          <p:cNvSpPr/>
          <p:nvPr/>
        </p:nvSpPr>
        <p:spPr>
          <a:xfrm>
            <a:off x="8085124" y="2962656"/>
            <a:ext cx="3539642" cy="859536"/>
          </a:xfrm>
          <a:prstGeom prst="roundRect">
            <a:avLst/>
          </a:prstGeom>
          <a:solidFill>
            <a:srgbClr val="1721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100"/>
              </a:spcAft>
            </a:pPr>
            <a:r>
              <a:rPr sz="1200" b="1">
                <a:solidFill>
                  <a:srgbClr val="E2E8F0"/>
                </a:solidFill>
                <a:latin typeface="Segoe UI"/>
              </a:rPr>
              <a:t>Puneeth Reddy</a:t>
            </a:r>
          </a:p>
          <a:p>
            <a:pPr algn="ctr">
              <a:spcAft>
                <a:spcPts val="300"/>
              </a:spcAft>
            </a:pPr>
            <a:r>
              <a:rPr sz="900" b="0">
                <a:solidFill>
                  <a:srgbClr val="94A3B8"/>
                </a:solidFill>
                <a:latin typeface="Segoe UI"/>
              </a:rPr>
              <a:t>245123733186</a:t>
            </a:r>
          </a:p>
          <a:p>
            <a:pPr algn="ctr">
              <a:spcAft>
                <a:spcPts val="0"/>
              </a:spcAft>
            </a:pPr>
            <a:r>
              <a:rPr sz="1000" b="0">
                <a:solidFill>
                  <a:srgbClr val="38BDF8"/>
                </a:solidFill>
                <a:latin typeface="Segoe UI"/>
              </a:rPr>
              <a:t>Web client · event streaming · packaging · testing</a:t>
            </a:r>
          </a:p>
        </p:txBody>
      </p:sp>
      <p:sp>
        <p:nvSpPr>
          <p:cNvPr id="18" name="TextBox 17"/>
          <p:cNvSpPr txBox="1"/>
          <p:nvPr/>
        </p:nvSpPr>
        <p:spPr>
          <a:xfrm>
            <a:off x="566928" y="4041648"/>
            <a:ext cx="11057839" cy="237744"/>
          </a:xfrm>
          <a:prstGeom prst="rect">
            <a:avLst/>
          </a:prstGeom>
          <a:noFill/>
        </p:spPr>
        <p:txBody>
          <a:bodyPr wrap="square" lIns="0" rIns="0" tIns="0" bIns="0">
            <a:spAutoFit/>
          </a:bodyPr>
          <a:lstStyle/>
          <a:p>
            <a:pPr algn="l">
              <a:spcAft>
                <a:spcPts val="0"/>
              </a:spcAft>
            </a:pPr>
            <a:r>
              <a:rPr sz="1100" b="1">
                <a:solidFill>
                  <a:srgbClr val="38BDF8"/>
                </a:solidFill>
                <a:latin typeface="Segoe UI"/>
              </a:rPr>
              <a:t>REFERENCES</a:t>
            </a:r>
          </a:p>
        </p:txBody>
      </p:sp>
      <p:sp>
        <p:nvSpPr>
          <p:cNvPr id="19" name="TextBox 18"/>
          <p:cNvSpPr txBox="1"/>
          <p:nvPr/>
        </p:nvSpPr>
        <p:spPr>
          <a:xfrm>
            <a:off x="566928" y="4297680"/>
            <a:ext cx="11057839" cy="2011680"/>
          </a:xfrm>
          <a:prstGeom prst="rect">
            <a:avLst/>
          </a:prstGeom>
          <a:noFill/>
        </p:spPr>
        <p:txBody>
          <a:bodyPr wrap="square" lIns="0" rIns="0" tIns="0" bIns="0">
            <a:spAutoFit/>
          </a:bodyPr>
          <a:lstStyle/>
          <a:p>
            <a:pPr algn="l">
              <a:spcAft>
                <a:spcPts val="300"/>
              </a:spcAft>
            </a:pPr>
            <a:r>
              <a:rPr sz="900" b="0">
                <a:solidFill>
                  <a:srgbClr val="94A3B8"/>
                </a:solidFill>
                <a:latin typeface="Segoe UI"/>
              </a:rPr>
              <a:t>[1]  M. Chen et al., “Evaluating Large Language Models Trained on Code,” arXiv preprint arXiv:2107.03374, 2021.</a:t>
            </a:r>
          </a:p>
          <a:p>
            <a:pPr algn="l">
              <a:spcAft>
                <a:spcPts val="300"/>
              </a:spcAft>
            </a:pPr>
            <a:r>
              <a:rPr sz="900" b="0">
                <a:solidFill>
                  <a:srgbClr val="94A3B8"/>
                </a:solidFill>
                <a:latin typeface="Segoe UI"/>
              </a:rPr>
              <a:t>[2]  S. Yao et al., “ReAct: Synergizing Reasoning and Acting in Language Models,” in Proc. ICLR, 2023.</a:t>
            </a:r>
          </a:p>
          <a:p>
            <a:pPr algn="l">
              <a:spcAft>
                <a:spcPts val="300"/>
              </a:spcAft>
            </a:pPr>
            <a:r>
              <a:rPr sz="900" b="0">
                <a:solidFill>
                  <a:srgbClr val="94A3B8"/>
                </a:solidFill>
                <a:latin typeface="Segoe UI"/>
              </a:rPr>
              <a:t>[3]  S. Hong et al., “MetaGPT: Meta Programming for a Multi-Agent Collaborative Framework,” in Proc. ICLR, 2024.</a:t>
            </a:r>
          </a:p>
          <a:p>
            <a:pPr algn="l">
              <a:spcAft>
                <a:spcPts val="300"/>
              </a:spcAft>
            </a:pPr>
            <a:r>
              <a:rPr sz="900" b="0">
                <a:solidFill>
                  <a:srgbClr val="94A3B8"/>
                </a:solidFill>
                <a:latin typeface="Segoe UI"/>
              </a:rPr>
              <a:t>[4]  C. Qian et al., “ChatDev: Communicative Agents for Software Development,” in Proc. ACL, 2024.</a:t>
            </a:r>
          </a:p>
          <a:p>
            <a:pPr algn="l">
              <a:spcAft>
                <a:spcPts val="300"/>
              </a:spcAft>
            </a:pPr>
            <a:r>
              <a:rPr sz="900" b="0">
                <a:solidFill>
                  <a:srgbClr val="94A3B8"/>
                </a:solidFill>
                <a:latin typeface="Segoe UI"/>
              </a:rPr>
              <a:t>[5]  Q. Wu et al., “AutoGen: Enabling Next-Gen LLM Applications via Multi-Agent Conversation,” arXiv preprint arXiv:2308.08155, 2023.</a:t>
            </a:r>
          </a:p>
          <a:p>
            <a:pPr algn="l">
              <a:spcAft>
                <a:spcPts val="300"/>
              </a:spcAft>
            </a:pPr>
            <a:r>
              <a:rPr sz="900" b="0">
                <a:solidFill>
                  <a:srgbClr val="94A3B8"/>
                </a:solidFill>
                <a:latin typeface="Segoe UI"/>
              </a:rPr>
              <a:t>[6]  C. E. Jimenez et al., “SWE-bench: Can Language Models Resolve Real-World GitHub Issues?,” in Proc. ICLR, 2024.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